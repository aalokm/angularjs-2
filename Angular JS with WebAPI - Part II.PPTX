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7" r:id="rId2"/>
    <p:sldId id="317" r:id="rId3"/>
    <p:sldId id="334" r:id="rId4"/>
    <p:sldId id="324" r:id="rId5"/>
    <p:sldId id="327" r:id="rId6"/>
    <p:sldId id="328" r:id="rId7"/>
    <p:sldId id="332" r:id="rId8"/>
    <p:sldId id="344" r:id="rId9"/>
    <p:sldId id="345" r:id="rId10"/>
    <p:sldId id="325" r:id="rId11"/>
    <p:sldId id="331" r:id="rId12"/>
    <p:sldId id="333" r:id="rId13"/>
    <p:sldId id="336" r:id="rId14"/>
    <p:sldId id="335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29" r:id="rId23"/>
    <p:sldId id="283" r:id="rId24"/>
    <p:sldId id="284" r:id="rId25"/>
    <p:sldId id="286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419">
          <p15:clr>
            <a:srgbClr val="A4A3A4"/>
          </p15:clr>
        </p15:guide>
        <p15:guide id="2" orient="horz" pos="4164">
          <p15:clr>
            <a:srgbClr val="A4A3A4"/>
          </p15:clr>
        </p15:guide>
        <p15:guide id="3" orient="horz" pos="1171">
          <p15:clr>
            <a:srgbClr val="A4A3A4"/>
          </p15:clr>
        </p15:guide>
        <p15:guide id="4" orient="horz" pos="3505">
          <p15:clr>
            <a:srgbClr val="A4A3A4"/>
          </p15:clr>
        </p15:guide>
        <p15:guide id="5" orient="horz" pos="1685">
          <p15:clr>
            <a:srgbClr val="A4A3A4"/>
          </p15:clr>
        </p15:guide>
        <p15:guide id="6" pos="2880">
          <p15:clr>
            <a:srgbClr val="A4A3A4"/>
          </p15:clr>
        </p15:guide>
        <p15:guide id="7" pos="5616">
          <p15:clr>
            <a:srgbClr val="A4A3A4"/>
          </p15:clr>
        </p15:guide>
        <p15:guide id="8" pos="144">
          <p15:clr>
            <a:srgbClr val="A4A3A4"/>
          </p15:clr>
        </p15:guide>
        <p15:guide id="9">
          <p15:clr>
            <a:srgbClr val="A4A3A4"/>
          </p15:clr>
        </p15:guide>
        <p15:guide id="10" pos="1104">
          <p15:clr>
            <a:srgbClr val="A4A3A4"/>
          </p15:clr>
        </p15:guide>
        <p15:guide id="11" pos="1591">
          <p15:clr>
            <a:srgbClr val="A4A3A4"/>
          </p15:clr>
        </p15:guide>
        <p15:guide id="12" pos="3024">
          <p15:clr>
            <a:srgbClr val="A4A3A4"/>
          </p15:clr>
        </p15:guide>
        <p15:guide id="13" pos="1438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0075B0"/>
    <a:srgbClr val="00547E"/>
    <a:srgbClr val="0093DD"/>
    <a:srgbClr val="FFFFFF"/>
    <a:srgbClr val="69CAFB"/>
    <a:srgbClr val="44BDFA"/>
    <a:srgbClr val="0085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42" autoAdjust="0"/>
    <p:restoredTop sz="94434" autoAdjust="0"/>
  </p:normalViewPr>
  <p:slideViewPr>
    <p:cSldViewPr snapToGrid="0" showGuides="1">
      <p:cViewPr>
        <p:scale>
          <a:sx n="100" d="100"/>
          <a:sy n="100" d="100"/>
        </p:scale>
        <p:origin x="-660" y="648"/>
      </p:cViewPr>
      <p:guideLst>
        <p:guide orient="horz" pos="1419"/>
        <p:guide orient="horz" pos="4164"/>
        <p:guide orient="horz" pos="1171"/>
        <p:guide orient="horz" pos="3505"/>
        <p:guide orient="horz" pos="1685"/>
        <p:guide pos="2880"/>
        <p:guide pos="5616"/>
        <p:guide pos="144"/>
        <p:guide/>
        <p:guide pos="1104"/>
        <p:guide pos="1591"/>
        <p:guide pos="3024"/>
        <p:guide pos="14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-202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3DB0290-AD4D-4875-AE36-9B95EED37B23}" type="datetimeFigureOut">
              <a:rPr lang="en-US"/>
              <a:pPr>
                <a:defRPr/>
              </a:pPr>
              <a:t>7/18/2016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92957E-9FAD-400F-965F-6B63005E97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2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4DB1155-23EC-48ED-968C-871B97B5CB18}" type="datetimeFigureOut">
              <a:rPr lang="en-US"/>
              <a:pPr>
                <a:defRPr/>
              </a:pPr>
              <a:t>7/18/2016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08DA488-622B-4B03-89F7-0C7090BEF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905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660EB3A-D604-4AB8-B6FE-517D58584C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69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iStock_000005255967_WBack_0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4" t="21" b="7971"/>
          <a:stretch>
            <a:fillRect/>
          </a:stretch>
        </p:blipFill>
        <p:spPr bwMode="auto">
          <a:xfrm>
            <a:off x="0" y="690563"/>
            <a:ext cx="9144000" cy="616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E024804-5FE4-43EB-A3DC-CE9465AC980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0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AE39FDE-B22A-46FC-A160-90B07DD945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2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Option - Option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-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5225" b="14674"/>
          <a:stretch>
            <a:fillRect/>
          </a:stretch>
        </p:blipFill>
        <p:spPr bwMode="auto">
          <a:xfrm>
            <a:off x="0" y="687388"/>
            <a:ext cx="9144000" cy="617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C41715D-A6B8-40A7-95E6-CFD2F83C7A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2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295889-5643-4F2A-A2EA-6C57F8E41B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5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iStock_000002285402XSmall_02.jpg"/>
          <p:cNvPicPr>
            <a:picLocks noChangeAspect="1"/>
          </p:cNvPicPr>
          <p:nvPr userDrawn="1"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" t="3665" r="1407"/>
          <a:stretch>
            <a:fillRect/>
          </a:stretch>
        </p:blipFill>
        <p:spPr bwMode="auto">
          <a:xfrm>
            <a:off x="0" y="687388"/>
            <a:ext cx="9142413" cy="616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8708172-4FBD-4E30-AF6C-AEA3E3461C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8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EF7CF83-7D07-416B-9A2E-8A92D31C37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rgbClr val="262626"/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4844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CC72EAB-1B23-42D4-AE30-1C46AF8970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/ Content / 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C87B666-782D-45DF-B949-4849698477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4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/Content/Bulle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629" b="8450"/>
          <a:stretch>
            <a:fillRect/>
          </a:stretch>
        </p:blipFill>
        <p:spPr bwMode="auto">
          <a:xfrm>
            <a:off x="2552700" y="2982913"/>
            <a:ext cx="6591300" cy="387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2"/>
            <a:ext cx="7269734" cy="4724717"/>
          </a:xfrm>
          <a:prstGeom prst="rect">
            <a:avLst/>
          </a:prstGeom>
        </p:spPr>
        <p:txBody>
          <a:bodyPr/>
          <a:lstStyle>
            <a:lvl1pPr marL="457200" indent="-228600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32EA29C-C541-4170-82C5-9362BD02D0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2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Slide with Text -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5306251"/>
            <a:ext cx="7269734" cy="1423733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52600" y="1856231"/>
            <a:ext cx="5644896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89CA7F7-F4C4-4DC2-8A57-21C659CD72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698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1"/>
            <a:ext cx="4260850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379"/>
            <a:ext cx="4343400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1EA9D3A-9DF0-413E-93DD-8C0E48055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92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209550" y="2327275"/>
            <a:ext cx="2155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Microsoft Sans Serif" pitchFamily="34" charset="0"/>
                <a:ea typeface="Kozuka Gothic Pro L" pitchFamily="34" charset="-128"/>
                <a:cs typeface="Microsoft Sans Serif" pitchFamily="34" charset="0"/>
              </a:rPr>
              <a:t>Place image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2"/>
            <a:ext cx="2136775" cy="1582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280" y="1721803"/>
            <a:ext cx="6389687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2D103BA-A63D-434B-BBAA-F783C63294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201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auto">
          <a:xfrm flipH="1">
            <a:off x="-9525" y="1457325"/>
            <a:ext cx="2286000" cy="795338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 flipH="1">
            <a:off x="4572000" y="1457325"/>
            <a:ext cx="2286000" cy="795338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 flipH="1">
            <a:off x="6858000" y="1457325"/>
            <a:ext cx="2286000" cy="795338"/>
          </a:xfrm>
          <a:prstGeom prst="rect">
            <a:avLst/>
          </a:prstGeom>
          <a:solidFill>
            <a:srgbClr val="EB7E0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 bwMode="auto">
          <a:xfrm flipH="1">
            <a:off x="2278063" y="1457325"/>
            <a:ext cx="2293937" cy="795338"/>
          </a:xfrm>
          <a:prstGeom prst="rect">
            <a:avLst/>
          </a:prstGeom>
          <a:solidFill>
            <a:srgbClr val="0075B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 bwMode="auto">
          <a:xfrm flipH="1" flipV="1">
            <a:off x="2278063" y="2252663"/>
            <a:ext cx="2293937" cy="3343275"/>
          </a:xfrm>
          <a:prstGeom prst="rect">
            <a:avLst/>
          </a:prstGeom>
          <a:solidFill>
            <a:srgbClr val="69CAFB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 bwMode="auto">
          <a:xfrm flipH="1" flipV="1">
            <a:off x="4572000" y="2252663"/>
            <a:ext cx="2286000" cy="3343275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 bwMode="auto">
          <a:xfrm flipH="1" flipV="1">
            <a:off x="-9525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Rectangle 19"/>
          <p:cNvSpPr/>
          <p:nvPr userDrawn="1"/>
        </p:nvSpPr>
        <p:spPr bwMode="auto">
          <a:xfrm flipH="1" flipV="1">
            <a:off x="6858000" y="2252663"/>
            <a:ext cx="2286000" cy="3343275"/>
          </a:xfrm>
          <a:prstGeom prst="rect">
            <a:avLst/>
          </a:prstGeom>
          <a:solidFill>
            <a:srgbClr val="FDD9B1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17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67713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7"/>
          </p:nvPr>
        </p:nvSpPr>
        <p:spPr>
          <a:xfrm>
            <a:off x="128017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67712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2CAF88E-6F27-44C8-9EA2-48A00F8046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2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flipV="1">
            <a:off x="2286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6858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 flipV="1">
            <a:off x="4572000" y="2252663"/>
            <a:ext cx="2286000" cy="3343275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 flipV="1">
            <a:off x="2286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 flipV="1">
            <a:off x="4572000" y="1457325"/>
            <a:ext cx="2286000" cy="795338"/>
          </a:xfrm>
          <a:prstGeom prst="rect">
            <a:avLst/>
          </a:prstGeom>
          <a:solidFill>
            <a:srgbClr val="00547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 flipV="1">
            <a:off x="6858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 flipH="1">
            <a:off x="0" y="1457325"/>
            <a:ext cx="2286000" cy="792163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20" name="Group 47"/>
          <p:cNvGrpSpPr>
            <a:grpSpLocks/>
          </p:cNvGrpSpPr>
          <p:nvPr userDrawn="1"/>
        </p:nvGrpSpPr>
        <p:grpSpPr bwMode="auto">
          <a:xfrm>
            <a:off x="1836738" y="1608138"/>
            <a:ext cx="352425" cy="266700"/>
            <a:chOff x="1773238" y="1957388"/>
            <a:chExt cx="352425" cy="266700"/>
          </a:xfrm>
        </p:grpSpPr>
        <p:sp>
          <p:nvSpPr>
            <p:cNvPr id="21" name="Isosceles Triangle 20"/>
            <p:cNvSpPr/>
            <p:nvPr/>
          </p:nvSpPr>
          <p:spPr>
            <a:xfrm rot="5400000">
              <a:off x="1716088" y="2014538"/>
              <a:ext cx="266700" cy="152400"/>
            </a:xfrm>
            <a:prstGeom prst="triangle">
              <a:avLst/>
            </a:prstGeom>
            <a:solidFill>
              <a:srgbClr val="00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1806575" y="2014538"/>
              <a:ext cx="266700" cy="152400"/>
            </a:xfrm>
            <a:prstGeom prst="triangle">
              <a:avLst/>
            </a:prstGeom>
            <a:solidFill>
              <a:srgbClr val="004B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1916113" y="2014538"/>
              <a:ext cx="266700" cy="152400"/>
            </a:xfrm>
            <a:prstGeom prst="triangle">
              <a:avLst/>
            </a:prstGeom>
            <a:solidFill>
              <a:srgbClr val="00547E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5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C0BA471-DB2D-4668-BC07-75978C8F4B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66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6000" y="1457325"/>
            <a:ext cx="3400425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86425" y="1457325"/>
            <a:ext cx="3457575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71713" y="2254250"/>
            <a:ext cx="341471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86425" y="2254250"/>
            <a:ext cx="3457575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6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0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C441B02-83F8-43C4-8D46-D305778B38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607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9D2AD7-9239-4C1F-A575-95B5CC0AD3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74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2000" contrast="-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"/>
          <a:stretch>
            <a:fillRect/>
          </a:stretch>
        </p:blipFill>
        <p:spPr bwMode="auto">
          <a:xfrm>
            <a:off x="0" y="695325"/>
            <a:ext cx="9142413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 -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st2_10207284-potter-makes-a-jug-out-of-clay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"/>
          <a:stretch>
            <a:fillRect/>
          </a:stretch>
        </p:blipFill>
        <p:spPr bwMode="auto">
          <a:xfrm>
            <a:off x="0" y="693738"/>
            <a:ext cx="9153525" cy="616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4354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4354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693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pic>
        <p:nvPicPr>
          <p:cNvPr id="8" name="Picture 2" descr="F:\Vitthal_Share\Misc\Cybage Logo\Cybag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0" y="190500"/>
            <a:ext cx="175260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962650"/>
            <a:ext cx="9153525" cy="89535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1665288" y="5995988"/>
            <a:ext cx="7212012" cy="32226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presentation is the intellectual property of </a:t>
            </a:r>
            <a:r>
              <a:rPr lang="en-US" sz="75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Cybage</a:t>
            </a:r>
            <a: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Software Pvt. Ltd. and is meant for the usage of the intended </a:t>
            </a:r>
            <a:r>
              <a:rPr lang="en-US" sz="75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Cybage</a:t>
            </a:r>
            <a: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employee/s for training purpose only.</a:t>
            </a:r>
            <a:b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should not be used for any other purpose or reproduced in any other form without written permission and consent of the concerned authorities.</a:t>
            </a:r>
          </a:p>
        </p:txBody>
      </p:sp>
      <p:sp>
        <p:nvSpPr>
          <p:cNvPr id="12" name="Footer Placeholder 3"/>
          <p:cNvSpPr txBox="1">
            <a:spLocks noGrp="1"/>
          </p:cNvSpPr>
          <p:nvPr userDrawn="1"/>
        </p:nvSpPr>
        <p:spPr bwMode="auto">
          <a:xfrm>
            <a:off x="5705475" y="6499225"/>
            <a:ext cx="3257550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Copyright © 2013. 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48502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00E985D-2868-48EA-86FA-93658EF775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118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8" descr="F:\Vitthal_Share\PPTs\Images\iStock_000000199967Small_0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1" b="8846"/>
          <a:stretch>
            <a:fillRect/>
          </a:stretch>
        </p:blipFill>
        <p:spPr bwMode="auto">
          <a:xfrm>
            <a:off x="2463800" y="2852738"/>
            <a:ext cx="6680200" cy="400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5705475" y="6499225"/>
            <a:ext cx="3257550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Copyright © 2013. 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4858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4516438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78970"/>
            <a:ext cx="7269734" cy="361207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tabLst>
                <a:tab pos="1144588" algn="l"/>
              </a:tabLst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Click to edit Master text styles</a:t>
            </a:r>
          </a:p>
          <a:p>
            <a:pPr lvl="3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9AAD9A1-45CE-43CF-9FBC-E33801BB26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43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 with Text - Option 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-6350" y="693738"/>
            <a:ext cx="9144000" cy="6164262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-6350" y="693738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514475" y="693738"/>
            <a:ext cx="762952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304913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4516438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5CCC9F8-4C73-4AE1-9003-613189B0FD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60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bl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st2_12259679-books-and-compu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0" y="2544763"/>
            <a:ext cx="3473450" cy="422433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5435600" y="2395538"/>
            <a:ext cx="3611563" cy="4230687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Footer Placeholder 3"/>
          <p:cNvSpPr txBox="1">
            <a:spLocks noGrp="1"/>
          </p:cNvSpPr>
          <p:nvPr userDrawn="1"/>
        </p:nvSpPr>
        <p:spPr bwMode="auto">
          <a:xfrm>
            <a:off x="5705475" y="6499225"/>
            <a:ext cx="3257550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Copyright © 2013. 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3941763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790DEDF-A95C-4B78-B249-478D0EBAE2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4276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11" descr="iStock_000008998403XSmall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075" y="3300413"/>
            <a:ext cx="4124325" cy="3094037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3941763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10EBE1A-B6C4-4CB6-B7AD-8336AA8259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1684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 - Option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4354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4354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4860012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1BFB956-4CCC-41E9-87AE-331EA0C6F8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5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27" name="Picture 2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150" y="161925"/>
            <a:ext cx="17065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588" y="6392863"/>
            <a:ext cx="4937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52AEF1-4D88-4F1B-8FD8-9E21E3DC6E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  <p:sldLayoutId id="2147484347" r:id="rId19"/>
    <p:sldLayoutId id="2147484349" r:id="rId20"/>
    <p:sldLayoutId id="2147484350" r:id="rId21"/>
    <p:sldLayoutId id="2147484351" r:id="rId22"/>
    <p:sldLayoutId id="2147484352" r:id="rId23"/>
    <p:sldLayoutId id="2147484354" r:id="rId2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sp.net/web-api/" TargetMode="External"/><Relationship Id="rId2" Type="http://schemas.openxmlformats.org/officeDocument/2006/relationships/hyperlink" Target="https://angularjs.org/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1658938" y="4813428"/>
            <a:ext cx="7257288" cy="5666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500"/>
              </a:spcBef>
              <a:spcAft>
                <a:spcPts val="500"/>
              </a:spcAft>
              <a:tabLst>
                <a:tab pos="1314450" algn="l"/>
              </a:tabLst>
            </a:pPr>
            <a:r>
              <a:rPr lang="en-US" altLang="en-US" sz="3600" dirty="0" smtClean="0">
                <a:latin typeface="+mj-lt"/>
              </a:rPr>
              <a:t>Angular JS with WebAPI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81BB0-CC97-4F46-A9A0-479DE5BAE266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9460" name="TextBox 3"/>
          <p:cNvSpPr txBox="1">
            <a:spLocks noChangeArrowheads="1"/>
          </p:cNvSpPr>
          <p:nvPr/>
        </p:nvSpPr>
        <p:spPr bwMode="auto">
          <a:xfrm>
            <a:off x="1658938" y="5380038"/>
            <a:ext cx="7257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chemeClr val="bg1"/>
                </a:solidFill>
                <a:latin typeface="+mn-lt"/>
              </a:rPr>
              <a:t>Authored </a:t>
            </a:r>
            <a:r>
              <a:rPr lang="en-US" altLang="en-US" sz="2000" dirty="0" smtClean="0">
                <a:solidFill>
                  <a:schemeClr val="bg1"/>
                </a:solidFill>
                <a:latin typeface="+mn-lt"/>
              </a:rPr>
              <a:t>by: Shitalkumar</a:t>
            </a:r>
            <a:r>
              <a:rPr lang="en-US" altLang="en-US" sz="2000" dirty="0">
                <a:solidFill>
                  <a:schemeClr val="bg1"/>
                </a:solidFill>
                <a:latin typeface="+mn-lt"/>
              </a:rPr>
              <a:t>	</a:t>
            </a:r>
            <a:r>
              <a:rPr lang="en-US" altLang="en-US" sz="2000" dirty="0" smtClean="0">
                <a:solidFill>
                  <a:schemeClr val="bg1"/>
                </a:solidFill>
                <a:latin typeface="+mn-lt"/>
              </a:rPr>
              <a:t>     |          Presented by:  Shitalkumar</a:t>
            </a:r>
            <a:endParaRPr lang="en-US" altLang="en-US" sz="2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103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Angular JS with Web API</a:t>
            </a:r>
            <a:endParaRPr lang="en-US" sz="3200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228600" lvl="1"/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lang="en-US" sz="2000" dirty="0" smtClean="0">
                <a:solidFill>
                  <a:srgbClr val="FF0000"/>
                </a:solidFill>
              </a:rPr>
              <a:t>	</a:t>
            </a:r>
            <a:r>
              <a:rPr lang="en-US" sz="6000" dirty="0" smtClean="0"/>
              <a:t>Part - II</a:t>
            </a:r>
          </a:p>
          <a:p>
            <a:pPr lvl="1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Agenda: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Web API Introduction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Web API call using Angular JS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$http service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$resource service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oData Service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Error handling and validation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When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to recommend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Pros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and Cons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Q&amp;A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8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Web API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Web API</a:t>
            </a:r>
            <a:r>
              <a:rPr lang="en-US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RESTful Web API</a:t>
            </a:r>
            <a:endParaRPr lang="en-US" dirty="0"/>
          </a:p>
          <a:p>
            <a:pPr marL="685800" lvl="2"/>
            <a:endParaRPr lang="en-US" dirty="0" smtClean="0"/>
          </a:p>
          <a:p>
            <a:pPr marL="228600" lvl="1"/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960841"/>
              </p:ext>
            </p:extLst>
          </p:nvPr>
        </p:nvGraphicFramePr>
        <p:xfrm>
          <a:off x="1426189" y="2511188"/>
          <a:ext cx="7362968" cy="37940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0742"/>
                <a:gridCol w="1840742"/>
                <a:gridCol w="1840742"/>
                <a:gridCol w="1840742"/>
              </a:tblGrid>
              <a:tr h="271006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Resource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Verb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Expected Outcome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Response Code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542011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/Products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r>
                        <a:rPr lang="en-US" sz="1100">
                          <a:effectLst/>
                        </a:rPr>
                        <a:t>GET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A list of all products in the system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200/OK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542011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/Products?Colour=red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 GET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A list of all products in the system where the colour is red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200/OK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271006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/Products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 POST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Creation of a new product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201/Created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271006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/Products/81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 GET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Product with ID of 81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200/OK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542011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/Products/881(a product ID which does not exist)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 GET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Some error message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404/Not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Found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542011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/Products/81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 PUT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An update to the product with an ID of 81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204/No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Content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542011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/Products/81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 DELETE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Deletion of the product with an ID of 81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204/No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Content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271006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/Customers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 GET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A list of all customers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200/OK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56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Web API call using Angular 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Retrieve data(GET)</a:t>
            </a:r>
          </a:p>
          <a:p>
            <a:pPr marL="228600" lvl="1"/>
            <a:endParaRPr lang="en-US" sz="1400" dirty="0"/>
          </a:p>
          <a:p>
            <a:pPr marL="228600" lvl="1"/>
            <a:endParaRPr lang="en-US" sz="1400" dirty="0" smtClean="0"/>
          </a:p>
          <a:p>
            <a:pPr marL="228600" lvl="1"/>
            <a:endParaRPr lang="en-US" sz="1400" dirty="0"/>
          </a:p>
          <a:p>
            <a:pPr marL="228600" lvl="1"/>
            <a:endParaRPr lang="en-US" sz="1400" dirty="0" smtClean="0"/>
          </a:p>
          <a:p>
            <a:pPr marL="228600" lvl="1"/>
            <a:endParaRPr lang="en-US" sz="1400" dirty="0"/>
          </a:p>
          <a:p>
            <a:pPr marL="228600" lvl="1"/>
            <a:endParaRPr lang="en-US" sz="1400" dirty="0" smtClean="0"/>
          </a:p>
          <a:p>
            <a:pPr marL="228600" lvl="1"/>
            <a:endParaRPr lang="en-US" sz="1400" dirty="0"/>
          </a:p>
          <a:p>
            <a:pPr marL="228600" lvl="1"/>
            <a:endParaRPr lang="en-US" sz="1400" dirty="0" smtClean="0"/>
          </a:p>
          <a:p>
            <a:pPr marL="228600" lvl="1"/>
            <a:endParaRPr lang="en-US" sz="1400" dirty="0"/>
          </a:p>
          <a:p>
            <a:pPr marL="228600" lvl="1"/>
            <a:endParaRPr lang="en-US" sz="1400" dirty="0" smtClean="0"/>
          </a:p>
          <a:p>
            <a:pPr marL="228600" lvl="1"/>
            <a:endParaRPr lang="en-US" sz="1400" dirty="0"/>
          </a:p>
          <a:p>
            <a:pPr marL="228600" lvl="1"/>
            <a:endParaRPr lang="en-US" sz="1400" dirty="0" smtClean="0"/>
          </a:p>
          <a:p>
            <a:pPr marL="228600" lvl="1"/>
            <a:endParaRPr lang="en-US" sz="1400" dirty="0"/>
          </a:p>
          <a:p>
            <a:pPr marL="228600" lvl="1"/>
            <a:endParaRPr lang="en-US" sz="1400" dirty="0" smtClean="0"/>
          </a:p>
          <a:p>
            <a:pPr marL="228600" lvl="1"/>
            <a:endParaRPr lang="en-US" sz="14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4" y="1981200"/>
            <a:ext cx="6134239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43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Services for calling web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228600" lvl="1"/>
            <a:r>
              <a:rPr lang="en-US" sz="17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1. $http</a:t>
            </a:r>
            <a:endParaRPr lang="en-US" sz="1700" b="1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28600" lvl="1"/>
            <a:r>
              <a:rPr lang="en-US" sz="2000" dirty="0" smtClean="0">
                <a:solidFill>
                  <a:srgbClr val="FF0000"/>
                </a:solidFill>
              </a:rPr>
              <a:t>	</a:t>
            </a:r>
            <a:r>
              <a:rPr lang="en-US" sz="2000" dirty="0" smtClean="0"/>
              <a:t>Get:</a:t>
            </a:r>
          </a:p>
          <a:p>
            <a:pPr marL="228600" lvl="1"/>
            <a:r>
              <a:rPr lang="en-US" sz="2000" dirty="0"/>
              <a:t>	</a:t>
            </a:r>
            <a:r>
              <a:rPr lang="en-US" sz="2000" dirty="0" smtClean="0"/>
              <a:t>Put:</a:t>
            </a:r>
          </a:p>
          <a:p>
            <a:pPr marL="1143000" lvl="3"/>
            <a:r>
              <a:rPr lang="en-US" sz="1500" dirty="0" smtClean="0"/>
              <a:t>$</a:t>
            </a:r>
            <a:r>
              <a:rPr lang="en-US" sz="1500" dirty="0" err="1" smtClean="0"/>
              <a:t>http.put</a:t>
            </a:r>
            <a:r>
              <a:rPr lang="en-US" sz="1500" dirty="0" smtClean="0"/>
              <a:t>(</a:t>
            </a:r>
            <a:r>
              <a:rPr lang="en-US" sz="1500" dirty="0" err="1" smtClean="0"/>
              <a:t>url</a:t>
            </a:r>
            <a:r>
              <a:rPr lang="en-US" sz="1500" dirty="0" smtClean="0"/>
              <a:t>, data, </a:t>
            </a:r>
            <a:r>
              <a:rPr lang="en-US" sz="1500" dirty="0" err="1" smtClean="0"/>
              <a:t>config</a:t>
            </a:r>
            <a:r>
              <a:rPr lang="en-US" sz="1500" dirty="0" smtClean="0"/>
              <a:t>)</a:t>
            </a:r>
            <a:br>
              <a:rPr lang="en-US" sz="1500" dirty="0" smtClean="0"/>
            </a:br>
            <a:r>
              <a:rPr lang="en-US" sz="1500" dirty="0" smtClean="0"/>
              <a:t>            .success(function (data, status, headers, </a:t>
            </a:r>
            <a:r>
              <a:rPr lang="en-US" sz="1500" dirty="0" err="1" smtClean="0"/>
              <a:t>config</a:t>
            </a:r>
            <a:r>
              <a:rPr lang="en-US" sz="1500" dirty="0" smtClean="0"/>
              <a:t>) {</a:t>
            </a:r>
            <a:br>
              <a:rPr lang="en-US" sz="1500" dirty="0" smtClean="0"/>
            </a:br>
            <a:r>
              <a:rPr lang="en-US" sz="1500" dirty="0" smtClean="0"/>
              <a:t>            })</a:t>
            </a:r>
            <a:br>
              <a:rPr lang="en-US" sz="1500" dirty="0" smtClean="0"/>
            </a:br>
            <a:r>
              <a:rPr lang="en-US" sz="1500" dirty="0" smtClean="0"/>
              <a:t>            .error(function (data, status, header, </a:t>
            </a:r>
            <a:r>
              <a:rPr lang="en-US" sz="1500" dirty="0" err="1" smtClean="0"/>
              <a:t>config</a:t>
            </a:r>
            <a:r>
              <a:rPr lang="en-US" sz="1500" dirty="0" smtClean="0"/>
              <a:t>) {</a:t>
            </a:r>
            <a:br>
              <a:rPr lang="en-US" sz="1500" dirty="0" smtClean="0"/>
            </a:br>
            <a:r>
              <a:rPr lang="en-US" sz="1500" dirty="0" smtClean="0"/>
              <a:t>            });</a:t>
            </a:r>
          </a:p>
          <a:p>
            <a:pPr marL="228600" lvl="1"/>
            <a:r>
              <a:rPr lang="en-US" sz="2000" dirty="0"/>
              <a:t>	</a:t>
            </a:r>
            <a:r>
              <a:rPr lang="en-US" sz="2000" dirty="0" smtClean="0"/>
              <a:t>Post:</a:t>
            </a:r>
          </a:p>
          <a:p>
            <a:pPr marL="1143000" lvl="3"/>
            <a:r>
              <a:rPr lang="en-US" sz="1400" dirty="0" smtClean="0"/>
              <a:t>$http.post(</a:t>
            </a:r>
            <a:r>
              <a:rPr lang="en-US" sz="1400" dirty="0" err="1" smtClean="0"/>
              <a:t>url</a:t>
            </a:r>
            <a:r>
              <a:rPr lang="en-US" sz="1400" dirty="0" smtClean="0"/>
              <a:t>, data, </a:t>
            </a:r>
            <a:r>
              <a:rPr lang="en-US" sz="1400" dirty="0" err="1" smtClean="0"/>
              <a:t>config</a:t>
            </a:r>
            <a:r>
              <a:rPr lang="en-US" sz="1400" dirty="0" smtClean="0"/>
              <a:t>)</a:t>
            </a:r>
            <a:br>
              <a:rPr lang="en-US" sz="1400" dirty="0" smtClean="0"/>
            </a:br>
            <a:r>
              <a:rPr lang="en-US" sz="1400" dirty="0" smtClean="0"/>
              <a:t>            .success(function (data, status, headers, </a:t>
            </a:r>
            <a:r>
              <a:rPr lang="en-US" sz="1400" dirty="0" err="1" smtClean="0"/>
              <a:t>config</a:t>
            </a:r>
            <a:r>
              <a:rPr lang="en-US" sz="1400" dirty="0" smtClean="0"/>
              <a:t>) {</a:t>
            </a:r>
            <a:br>
              <a:rPr lang="en-US" sz="1400" dirty="0" smtClean="0"/>
            </a:br>
            <a:r>
              <a:rPr lang="en-US" sz="1400" dirty="0" smtClean="0"/>
              <a:t>            })</a:t>
            </a:r>
            <a:br>
              <a:rPr lang="en-US" sz="1400" dirty="0" smtClean="0"/>
            </a:br>
            <a:r>
              <a:rPr lang="en-US" sz="1400" dirty="0" smtClean="0"/>
              <a:t>            .error(function (data, status, header, </a:t>
            </a:r>
            <a:r>
              <a:rPr lang="en-US" sz="1400" dirty="0" err="1" smtClean="0"/>
              <a:t>config</a:t>
            </a:r>
            <a:r>
              <a:rPr lang="en-US" sz="1400" dirty="0" smtClean="0"/>
              <a:t>) {</a:t>
            </a:r>
            <a:br>
              <a:rPr lang="en-US" sz="1400" dirty="0" smtClean="0"/>
            </a:br>
            <a:r>
              <a:rPr lang="en-US" sz="1400" dirty="0" smtClean="0"/>
              <a:t>            });</a:t>
            </a:r>
          </a:p>
          <a:p>
            <a:pPr marL="228600" lvl="1"/>
            <a:r>
              <a:rPr lang="en-US" sz="2000" dirty="0"/>
              <a:t>	</a:t>
            </a:r>
            <a:r>
              <a:rPr lang="en-US" sz="2000" dirty="0" smtClean="0"/>
              <a:t>Delete:</a:t>
            </a:r>
          </a:p>
          <a:p>
            <a:pPr marL="228600" lvl="1"/>
            <a:r>
              <a:rPr lang="en-US" sz="1400" dirty="0" smtClean="0"/>
              <a:t>	$http.delete(</a:t>
            </a:r>
            <a:r>
              <a:rPr lang="en-US" sz="1400" dirty="0" err="1" smtClean="0"/>
              <a:t>url</a:t>
            </a:r>
            <a:r>
              <a:rPr lang="en-US" sz="1400" dirty="0"/>
              <a:t>, data)</a:t>
            </a:r>
            <a:br>
              <a:rPr lang="en-US" sz="1400" dirty="0"/>
            </a:br>
            <a:r>
              <a:rPr lang="en-US" sz="1400" dirty="0" smtClean="0"/>
              <a:t>		.</a:t>
            </a:r>
            <a:r>
              <a:rPr lang="en-US" sz="1400" dirty="0"/>
              <a:t>success(data, status, headers, config)</a:t>
            </a:r>
            <a:br>
              <a:rPr lang="en-US" sz="1400" dirty="0"/>
            </a:br>
            <a:r>
              <a:rPr lang="en-US" sz="1400" dirty="0" smtClean="0"/>
              <a:t>		.</a:t>
            </a:r>
            <a:r>
              <a:rPr lang="en-US" sz="1400" dirty="0"/>
              <a:t>error(data, status, headers, config);</a:t>
            </a:r>
            <a:endParaRPr lang="en-US" sz="1400" dirty="0" smtClean="0"/>
          </a:p>
          <a:p>
            <a:pPr marL="228600" lvl="1"/>
            <a:r>
              <a:rPr lang="en-US" sz="1400" dirty="0" smtClean="0">
                <a:solidFill>
                  <a:srgbClr val="FF0000"/>
                </a:solidFill>
              </a:rPr>
              <a:t>Sample(Get - Filters.html and for </a:t>
            </a:r>
            <a:r>
              <a:rPr lang="en-US" sz="1400" dirty="0" err="1" smtClean="0">
                <a:solidFill>
                  <a:srgbClr val="FF0000"/>
                </a:solidFill>
              </a:rPr>
              <a:t>Put,Post,delete</a:t>
            </a:r>
            <a:r>
              <a:rPr lang="en-US" sz="1400" dirty="0" smtClean="0">
                <a:solidFill>
                  <a:srgbClr val="FF0000"/>
                </a:solidFill>
              </a:rPr>
              <a:t> –httpMethods.html)…</a:t>
            </a:r>
            <a:endParaRPr lang="en-US" sz="1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95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Services for calling web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228600" lvl="1"/>
            <a:r>
              <a:rPr lang="en-US" sz="17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2. $Resource</a:t>
            </a:r>
            <a:endParaRPr lang="en-US" sz="1700" b="1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28600" lvl="1"/>
            <a:r>
              <a:rPr lang="en-US" sz="2000" dirty="0" smtClean="0">
                <a:solidFill>
                  <a:srgbClr val="FF0000"/>
                </a:solidFill>
              </a:rPr>
              <a:t>	</a:t>
            </a: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r>
              <a:rPr lang="en-US" sz="1400" dirty="0" smtClean="0">
                <a:solidFill>
                  <a:srgbClr val="FF0000"/>
                </a:solidFill>
              </a:rPr>
              <a:t>Sample(GetResource.html)…</a:t>
            </a:r>
            <a:endParaRPr lang="en-US" sz="1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2185572"/>
            <a:ext cx="5962650" cy="3300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126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Web API call using Angular 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Saving Data using PUT/POST</a:t>
            </a:r>
            <a:endParaRPr lang="en-US" sz="20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228600" lvl="1"/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r>
              <a:rPr lang="en-US" sz="1400" dirty="0" smtClean="0">
                <a:solidFill>
                  <a:srgbClr val="FF0000"/>
                </a:solidFill>
              </a:rPr>
              <a:t>Sample(editPage.html)…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807" y="2443091"/>
            <a:ext cx="57150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629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Web API call using Angular 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r>
              <a:rPr lang="en-US" sz="1800" dirty="0" smtClean="0"/>
              <a:t>The </a:t>
            </a:r>
            <a:r>
              <a:rPr lang="en-US" sz="1800" dirty="0"/>
              <a:t>result of the function call is a resource class object which has </a:t>
            </a:r>
            <a:r>
              <a:rPr lang="en-US" sz="1800" dirty="0" smtClean="0"/>
              <a:t>the</a:t>
            </a:r>
          </a:p>
          <a:p>
            <a:r>
              <a:rPr lang="en-US" sz="1800" dirty="0" smtClean="0"/>
              <a:t>following </a:t>
            </a:r>
            <a:r>
              <a:rPr lang="en-US" sz="1800" dirty="0"/>
              <a:t>five methods by default:</a:t>
            </a:r>
            <a:endParaRPr lang="en-US" sz="16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1800" b="1" dirty="0"/>
              <a:t>get</a:t>
            </a:r>
            <a:r>
              <a:rPr lang="en-US" sz="1800" dirty="0"/>
              <a:t>() – use this to get specific record. used to invoke GET method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800" b="1" dirty="0"/>
              <a:t>query</a:t>
            </a:r>
            <a:r>
              <a:rPr lang="en-US" sz="1800" dirty="0"/>
              <a:t>() – use to get array list. used to invoke GET method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save</a:t>
            </a:r>
            <a:r>
              <a:rPr lang="en-US" sz="1800" dirty="0"/>
              <a:t>() – use this for POST/saving data. Need to call on model to POST with $save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delete</a:t>
            </a:r>
            <a:r>
              <a:rPr lang="en-US" sz="1800" dirty="0"/>
              <a:t>() </a:t>
            </a:r>
            <a:r>
              <a:rPr lang="en-US" sz="1800" dirty="0" smtClean="0"/>
              <a:t>/ </a:t>
            </a:r>
            <a:r>
              <a:rPr lang="en-US" sz="1800" b="1" dirty="0"/>
              <a:t>remove</a:t>
            </a:r>
            <a:r>
              <a:rPr lang="en-US" sz="1800" dirty="0"/>
              <a:t>() </a:t>
            </a:r>
            <a:r>
              <a:rPr lang="en-US" sz="1800" dirty="0" smtClean="0"/>
              <a:t>– </a:t>
            </a:r>
            <a:r>
              <a:rPr lang="en-US" sz="1800" dirty="0"/>
              <a:t>use to delete record. Both delete and remove are same methods used to call DELETE </a:t>
            </a:r>
            <a:r>
              <a:rPr lang="en-US" sz="1800" dirty="0" smtClean="0"/>
              <a:t>action. We need to define custom delete method to perform DELETE action.</a:t>
            </a: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update</a:t>
            </a:r>
            <a:r>
              <a:rPr lang="en-US" sz="1800" dirty="0"/>
              <a:t> – To support an update operation we need to modify our custom factory Entity. We need to define custom update method for performing PUT action.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228600" lvl="1"/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22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Web API call using Angular 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228600" lvl="1"/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r>
              <a:rPr lang="en-US" sz="1400" dirty="0" smtClean="0">
                <a:solidFill>
                  <a:srgbClr val="FF0000"/>
                </a:solidFill>
              </a:rPr>
              <a:t>Sample(GetResource.html for </a:t>
            </a:r>
            <a:r>
              <a:rPr lang="en-US" sz="1400" dirty="0" err="1" smtClean="0">
                <a:solidFill>
                  <a:srgbClr val="FF0000"/>
                </a:solidFill>
              </a:rPr>
              <a:t>Querystring</a:t>
            </a:r>
            <a:r>
              <a:rPr lang="en-US" sz="1400" dirty="0" smtClean="0">
                <a:solidFill>
                  <a:srgbClr val="FF0000"/>
                </a:solidFill>
              </a:rPr>
              <a:t> and URL Path)…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1759065"/>
            <a:ext cx="6343650" cy="333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528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Web API call using Angular 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oData Service call</a:t>
            </a:r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4" y="1902668"/>
            <a:ext cx="7419975" cy="3869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431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Web API call using Angular 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Angular call to oData service</a:t>
            </a:r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2295525"/>
            <a:ext cx="7948711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986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Action Results – Server</a:t>
            </a:r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210" y="1910686"/>
            <a:ext cx="6155140" cy="4367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25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Action Results – Server</a:t>
            </a:r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777" y="1968191"/>
            <a:ext cx="7662223" cy="199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777" y="4157520"/>
            <a:ext cx="7267860" cy="2566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859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Action Results – Client</a:t>
            </a:r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11" y="1774707"/>
            <a:ext cx="6235108" cy="249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11" y="4315305"/>
            <a:ext cx="7013819" cy="174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37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Error Handling(Server)</a:t>
            </a:r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460" y="1871642"/>
            <a:ext cx="4559703" cy="284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169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Error Handling(Client)</a:t>
            </a:r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500" y="2279175"/>
            <a:ext cx="7431208" cy="1924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803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11" y="1931157"/>
            <a:ext cx="8083001" cy="3391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165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228600" lvl="1"/>
            <a:r>
              <a:rPr lang="en-US" sz="2000" dirty="0" smtClean="0"/>
              <a:t>Validation - Client Side(Angular)</a:t>
            </a:r>
          </a:p>
          <a:p>
            <a:pPr marL="228600" lvl="1"/>
            <a:endParaRPr lang="en-US" sz="2000" dirty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485" y="2088108"/>
            <a:ext cx="4907104" cy="1678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485" y="4090348"/>
            <a:ext cx="5495174" cy="1068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629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228600" lvl="1"/>
            <a:r>
              <a:rPr lang="en-US" sz="2000" dirty="0" smtClean="0"/>
              <a:t>Validation – Server Side(Web API)</a:t>
            </a:r>
          </a:p>
          <a:p>
            <a:pPr marL="228600" lvl="1"/>
            <a:r>
              <a:rPr lang="en-US" sz="2000" dirty="0" smtClean="0"/>
              <a:t>			Step1</a:t>
            </a:r>
          </a:p>
          <a:p>
            <a:pPr marL="228600" lvl="1"/>
            <a:endParaRPr lang="en-US" sz="2000" dirty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573" y="2305050"/>
            <a:ext cx="6854367" cy="3727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049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228600" lvl="1"/>
            <a:r>
              <a:rPr lang="en-US" sz="2000" dirty="0" smtClean="0"/>
              <a:t>Validation – Server Side(Web API)</a:t>
            </a:r>
          </a:p>
          <a:p>
            <a:pPr marL="228600" lvl="1"/>
            <a:r>
              <a:rPr lang="en-US" sz="2000" dirty="0" smtClean="0"/>
              <a:t>			Step2</a:t>
            </a:r>
          </a:p>
          <a:p>
            <a:pPr marL="228600" lvl="1"/>
            <a:endParaRPr lang="en-US" sz="2000" dirty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2300288"/>
            <a:ext cx="6239301" cy="3554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720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228600" lvl="1"/>
            <a:r>
              <a:rPr lang="en-US" sz="2000" dirty="0" smtClean="0"/>
              <a:t>Validation – Server Side(Web API)</a:t>
            </a:r>
          </a:p>
          <a:p>
            <a:pPr marL="228600" lvl="1"/>
            <a:r>
              <a:rPr lang="en-US" sz="2000" dirty="0" smtClean="0"/>
              <a:t>			Step3</a:t>
            </a:r>
          </a:p>
          <a:p>
            <a:pPr marL="228600" lvl="1"/>
            <a:endParaRPr lang="en-US" sz="2000" dirty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228600" lvl="1"/>
            <a:endParaRPr lang="en-US" sz="2000" dirty="0" smtClean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417" y="2379117"/>
            <a:ext cx="7143494" cy="34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615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Pros and Cons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475" y="1474788"/>
            <a:ext cx="7650163" cy="4857750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Pros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600" dirty="0" smtClean="0"/>
              <a:t>Achieve more with less coding efforts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600" dirty="0" smtClean="0"/>
              <a:t>Angular features like SPA, data binding, routing, dependency injection, directives, services etc.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600" dirty="0" smtClean="0"/>
              <a:t>Develop </a:t>
            </a:r>
            <a:r>
              <a:rPr lang="en-US" sz="1600" dirty="0"/>
              <a:t>web application with less effort and easy for unit testing.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600" dirty="0"/>
              <a:t>D</a:t>
            </a:r>
            <a:r>
              <a:rPr lang="en-US" sz="1600" dirty="0" smtClean="0"/>
              <a:t>eveloped </a:t>
            </a:r>
            <a:r>
              <a:rPr lang="en-US" sz="1600" dirty="0"/>
              <a:t>by </a:t>
            </a:r>
            <a:r>
              <a:rPr lang="en-US" sz="1600" dirty="0" smtClean="0"/>
              <a:t>Google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600" dirty="0" smtClean="0"/>
              <a:t>Large community support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Cons</a:t>
            </a:r>
            <a:endParaRPr lang="en-US" sz="2400" dirty="0"/>
          </a:p>
          <a:p>
            <a:pPr marL="1028700" lvl="2" indent="-342900">
              <a:buFont typeface="+mj-lt"/>
              <a:buAutoNum type="arabicPeriod"/>
            </a:pPr>
            <a:r>
              <a:rPr lang="en-US" sz="1600" dirty="0" smtClean="0"/>
              <a:t>Large </a:t>
            </a:r>
            <a:r>
              <a:rPr lang="en-US" sz="1600" dirty="0"/>
              <a:t>file size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600" dirty="0" smtClean="0"/>
              <a:t>Difficult </a:t>
            </a:r>
            <a:r>
              <a:rPr lang="en-US" sz="1600" dirty="0"/>
              <a:t>to integrate into 3rd party services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600" dirty="0" smtClean="0"/>
              <a:t>Angular </a:t>
            </a:r>
            <a:r>
              <a:rPr lang="en-US" sz="1600" dirty="0"/>
              <a:t>is a very big codebase</a:t>
            </a:r>
            <a:r>
              <a:rPr lang="en-US" sz="1600" dirty="0" smtClean="0"/>
              <a:t>. If </a:t>
            </a:r>
            <a:r>
              <a:rPr lang="en-US" sz="1600" dirty="0"/>
              <a:t>you need to extend the base functionality, or look into the internals, or debug deep into the framework, it is much harder to comprehend than other frameworks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600" dirty="0" smtClean="0"/>
              <a:t>Angular </a:t>
            </a:r>
            <a:r>
              <a:rPr lang="en-US" sz="1600" dirty="0"/>
              <a:t>way coding and less scope for </a:t>
            </a:r>
            <a:r>
              <a:rPr lang="en-US" sz="1600" dirty="0" smtClean="0"/>
              <a:t>customization.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228600" lvl="1"/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93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600" dirty="0" smtClean="0">
                <a:latin typeface="+mj-lt"/>
              </a:rPr>
              <a:t>References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Documentation at : 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angularjs.org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hlinkClick r:id="rId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://www.asp.net/web-api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Youtube Video: </a:t>
            </a:r>
            <a:r>
              <a:rPr lang="en-US" b="1" dirty="0"/>
              <a:t>angularjs by </a:t>
            </a:r>
            <a:r>
              <a:rPr lang="en-US" b="1" dirty="0" smtClean="0"/>
              <a:t>Dan Wahlin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Plural Site: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Angular JS – Getting Started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Angular Front to Back with Web API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Angular Line of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0" indent="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7A69CE-7428-4F6E-BF69-A51F58CF1CFC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79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 bwMode="auto">
          <a:xfrm>
            <a:off x="1657350" y="11160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600" dirty="0" smtClean="0">
                <a:latin typeface="+mj-lt"/>
              </a:rPr>
              <a:t>Any Questions?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F91C6-2816-4F96-AF57-A22A0682044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92898" y="3172739"/>
            <a:ext cx="593660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2400" dirty="0">
                <a:latin typeface="+mn-lt"/>
              </a:rPr>
              <a:t>         </a:t>
            </a:r>
            <a:r>
              <a:rPr lang="en-US" sz="2400" dirty="0" smtClean="0">
                <a:latin typeface="+mn-lt"/>
              </a:rPr>
              <a:t>Have </a:t>
            </a:r>
            <a:r>
              <a:rPr lang="en-US" sz="2400" dirty="0">
                <a:latin typeface="+mn-lt"/>
              </a:rPr>
              <a:t>a question now?</a:t>
            </a:r>
          </a:p>
          <a:p>
            <a:pPr eaLnBrk="1" hangingPunct="1">
              <a:defRPr/>
            </a:pPr>
            <a:r>
              <a:rPr lang="en-US" sz="2400" dirty="0">
                <a:latin typeface="+mn-lt"/>
              </a:rPr>
              <a:t>            </a:t>
            </a:r>
            <a:r>
              <a:rPr lang="en-US" sz="2400" dirty="0" smtClean="0">
                <a:latin typeface="+mn-lt"/>
              </a:rPr>
              <a:t>  </a:t>
            </a:r>
            <a:r>
              <a:rPr lang="en-US" sz="2400" dirty="0" smtClean="0">
                <a:latin typeface="+mn-lt"/>
                <a:sym typeface="Wingdings"/>
              </a:rPr>
              <a:t></a:t>
            </a:r>
            <a:r>
              <a:rPr lang="en-US" dirty="0" smtClean="0">
                <a:latin typeface="+mn-lt"/>
              </a:rPr>
              <a:t> J</a:t>
            </a:r>
            <a:r>
              <a:rPr lang="en-US" sz="2000" dirty="0" smtClean="0">
                <a:latin typeface="+mn-lt"/>
              </a:rPr>
              <a:t>ust </a:t>
            </a:r>
            <a:r>
              <a:rPr lang="en-US" sz="2000" dirty="0">
                <a:latin typeface="+mn-lt"/>
              </a:rPr>
              <a:t>ask!</a:t>
            </a:r>
          </a:p>
          <a:p>
            <a:pPr eaLnBrk="1" hangingPunct="1">
              <a:defRPr/>
            </a:pPr>
            <a:endParaRPr lang="en-US" dirty="0">
              <a:latin typeface="+mn-lt"/>
            </a:endParaRPr>
          </a:p>
          <a:p>
            <a:pPr eaLnBrk="1" hangingPunct="1">
              <a:defRPr/>
            </a:pPr>
            <a:endParaRPr lang="en-US" dirty="0">
              <a:latin typeface="+mn-lt"/>
            </a:endParaRPr>
          </a:p>
          <a:p>
            <a:pPr eaLnBrk="1" hangingPunct="1">
              <a:defRPr/>
            </a:pPr>
            <a:r>
              <a:rPr lang="en-US" dirty="0">
                <a:latin typeface="+mn-lt"/>
              </a:rPr>
              <a:t>          </a:t>
            </a:r>
            <a:r>
              <a:rPr lang="en-US" sz="2400" dirty="0" smtClean="0">
                <a:latin typeface="+mn-lt"/>
              </a:rPr>
              <a:t>Think </a:t>
            </a:r>
            <a:r>
              <a:rPr lang="en-US" sz="2400" dirty="0">
                <a:latin typeface="+mn-lt"/>
              </a:rPr>
              <a:t>of a question later?</a:t>
            </a:r>
          </a:p>
          <a:p>
            <a:pPr eaLnBrk="1" hangingPunct="1">
              <a:defRPr/>
            </a:pPr>
            <a:r>
              <a:rPr lang="en-US" sz="2000" dirty="0">
                <a:latin typeface="+mn-lt"/>
              </a:rPr>
              <a:t>                        </a:t>
            </a:r>
            <a:r>
              <a:rPr lang="en-US" sz="2000" dirty="0" smtClean="0">
                <a:latin typeface="+mn-lt"/>
              </a:rPr>
              <a:t>shitalkumard@Cybage.com</a:t>
            </a:r>
            <a:endParaRPr lang="en-US" sz="2000" dirty="0">
              <a:latin typeface="+mn-lt"/>
            </a:endParaRPr>
          </a:p>
          <a:p>
            <a:pPr eaLnBrk="1" hangingPunct="1">
              <a:defRPr/>
            </a:pPr>
            <a:r>
              <a:rPr lang="en-US" sz="2000" dirty="0">
                <a:latin typeface="+mn-lt"/>
                <a:sym typeface="Wingdings"/>
              </a:rPr>
              <a:t>                 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smtClean="0">
                <a:latin typeface="+mn-lt"/>
              </a:rPr>
              <a:t> 8403</a:t>
            </a:r>
            <a:endParaRPr lang="en-US" sz="2000" dirty="0">
              <a:latin typeface="+mn-lt"/>
            </a:endParaRPr>
          </a:p>
          <a:p>
            <a:pPr eaLnBrk="1" hangingPunct="1">
              <a:defRPr/>
            </a:pPr>
            <a:endParaRPr lang="en-US" sz="2400" dirty="0">
              <a:latin typeface="+mn-lt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1657350" y="3298838"/>
            <a:ext cx="435980" cy="326635"/>
          </a:xfrm>
          <a:prstGeom prst="wedgeEllipseCallout">
            <a:avLst>
              <a:gd name="adj1" fmla="val -32500"/>
              <a:gd name="adj2" fmla="val 9235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1657350" y="4622775"/>
            <a:ext cx="435980" cy="342981"/>
          </a:xfrm>
          <a:prstGeom prst="cloudCallout">
            <a:avLst>
              <a:gd name="adj1" fmla="val -38567"/>
              <a:gd name="adj2" fmla="val 1089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 bwMode="auto">
          <a:xfrm>
            <a:off x="2556847" y="4965756"/>
            <a:ext cx="274638" cy="184150"/>
            <a:chOff x="8672460" y="-1818199"/>
            <a:chExt cx="1811337" cy="1203325"/>
          </a:xfrm>
        </p:grpSpPr>
        <p:sp>
          <p:nvSpPr>
            <p:cNvPr id="9" name="Freeform 11"/>
            <p:cNvSpPr>
              <a:spLocks/>
            </p:cNvSpPr>
            <p:nvPr/>
          </p:nvSpPr>
          <p:spPr bwMode="black">
            <a:xfrm>
              <a:off x="8850456" y="-1704094"/>
              <a:ext cx="1591461" cy="809132"/>
            </a:xfrm>
            <a:custGeom>
              <a:avLst/>
              <a:gdLst>
                <a:gd name="T0" fmla="*/ 363 w 422"/>
                <a:gd name="T1" fmla="*/ 1 h 213"/>
                <a:gd name="T2" fmla="*/ 346 w 422"/>
                <a:gd name="T3" fmla="*/ 0 h 213"/>
                <a:gd name="T4" fmla="*/ 346 w 422"/>
                <a:gd name="T5" fmla="*/ 0 h 213"/>
                <a:gd name="T6" fmla="*/ 346 w 422"/>
                <a:gd name="T7" fmla="*/ 0 h 213"/>
                <a:gd name="T8" fmla="*/ 346 w 422"/>
                <a:gd name="T9" fmla="*/ 0 h 213"/>
                <a:gd name="T10" fmla="*/ 185 w 422"/>
                <a:gd name="T11" fmla="*/ 98 h 213"/>
                <a:gd name="T12" fmla="*/ 164 w 422"/>
                <a:gd name="T13" fmla="*/ 105 h 213"/>
                <a:gd name="T14" fmla="*/ 141 w 422"/>
                <a:gd name="T15" fmla="*/ 96 h 213"/>
                <a:gd name="T16" fmla="*/ 14 w 422"/>
                <a:gd name="T17" fmla="*/ 2 h 213"/>
                <a:gd name="T18" fmla="*/ 14 w 422"/>
                <a:gd name="T19" fmla="*/ 2 h 213"/>
                <a:gd name="T20" fmla="*/ 0 w 422"/>
                <a:gd name="T21" fmla="*/ 1 h 213"/>
                <a:gd name="T22" fmla="*/ 1 w 422"/>
                <a:gd name="T23" fmla="*/ 100 h 213"/>
                <a:gd name="T24" fmla="*/ 40 w 422"/>
                <a:gd name="T25" fmla="*/ 98 h 213"/>
                <a:gd name="T26" fmla="*/ 181 w 422"/>
                <a:gd name="T27" fmla="*/ 149 h 213"/>
                <a:gd name="T28" fmla="*/ 335 w 422"/>
                <a:gd name="T29" fmla="*/ 211 h 213"/>
                <a:gd name="T30" fmla="*/ 362 w 422"/>
                <a:gd name="T31" fmla="*/ 213 h 213"/>
                <a:gd name="T32" fmla="*/ 362 w 422"/>
                <a:gd name="T33" fmla="*/ 169 h 213"/>
                <a:gd name="T34" fmla="*/ 421 w 422"/>
                <a:gd name="T35" fmla="*/ 114 h 213"/>
                <a:gd name="T36" fmla="*/ 420 w 422"/>
                <a:gd name="T37" fmla="*/ 111 h 213"/>
                <a:gd name="T38" fmla="*/ 418 w 422"/>
                <a:gd name="T39" fmla="*/ 115 h 213"/>
                <a:gd name="T40" fmla="*/ 362 w 422"/>
                <a:gd name="T41" fmla="*/ 155 h 213"/>
                <a:gd name="T42" fmla="*/ 363 w 422"/>
                <a:gd name="T43" fmla="*/ 1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22" h="213">
                  <a:moveTo>
                    <a:pt x="363" y="1"/>
                  </a:moveTo>
                  <a:cubicBezTo>
                    <a:pt x="363" y="1"/>
                    <a:pt x="346" y="0"/>
                    <a:pt x="346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299" y="29"/>
                    <a:pt x="203" y="87"/>
                    <a:pt x="185" y="98"/>
                  </a:cubicBezTo>
                  <a:cubicBezTo>
                    <a:pt x="182" y="100"/>
                    <a:pt x="173" y="105"/>
                    <a:pt x="164" y="105"/>
                  </a:cubicBezTo>
                  <a:cubicBezTo>
                    <a:pt x="154" y="105"/>
                    <a:pt x="147" y="101"/>
                    <a:pt x="141" y="96"/>
                  </a:cubicBezTo>
                  <a:cubicBezTo>
                    <a:pt x="126" y="86"/>
                    <a:pt x="59" y="35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0" y="1"/>
                    <a:pt x="0" y="1"/>
                  </a:cubicBezTo>
                  <a:cubicBezTo>
                    <a:pt x="0" y="28"/>
                    <a:pt x="0" y="65"/>
                    <a:pt x="1" y="100"/>
                  </a:cubicBezTo>
                  <a:cubicBezTo>
                    <a:pt x="12" y="98"/>
                    <a:pt x="26" y="97"/>
                    <a:pt x="40" y="98"/>
                  </a:cubicBezTo>
                  <a:cubicBezTo>
                    <a:pt x="91" y="101"/>
                    <a:pt x="139" y="125"/>
                    <a:pt x="181" y="149"/>
                  </a:cubicBezTo>
                  <a:cubicBezTo>
                    <a:pt x="222" y="172"/>
                    <a:pt x="273" y="200"/>
                    <a:pt x="335" y="211"/>
                  </a:cubicBezTo>
                  <a:cubicBezTo>
                    <a:pt x="344" y="212"/>
                    <a:pt x="353" y="213"/>
                    <a:pt x="362" y="213"/>
                  </a:cubicBezTo>
                  <a:cubicBezTo>
                    <a:pt x="362" y="169"/>
                    <a:pt x="362" y="169"/>
                    <a:pt x="362" y="169"/>
                  </a:cubicBezTo>
                  <a:cubicBezTo>
                    <a:pt x="412" y="159"/>
                    <a:pt x="419" y="127"/>
                    <a:pt x="421" y="114"/>
                  </a:cubicBezTo>
                  <a:cubicBezTo>
                    <a:pt x="421" y="113"/>
                    <a:pt x="422" y="111"/>
                    <a:pt x="420" y="111"/>
                  </a:cubicBezTo>
                  <a:cubicBezTo>
                    <a:pt x="418" y="111"/>
                    <a:pt x="418" y="114"/>
                    <a:pt x="418" y="115"/>
                  </a:cubicBezTo>
                  <a:cubicBezTo>
                    <a:pt x="416" y="122"/>
                    <a:pt x="411" y="148"/>
                    <a:pt x="362" y="155"/>
                  </a:cubicBezTo>
                  <a:lnTo>
                    <a:pt x="363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36" tIns="45718" rIns="91436" bIns="45718" anchor="ctr"/>
            <a:lstStyle/>
            <a:p>
              <a:pPr defTabSz="740740" eaLnBrk="1" hangingPunct="1">
                <a:defRPr/>
              </a:pPr>
              <a:endParaRPr lang="en-US" spc="-122">
                <a:solidFill>
                  <a:schemeClr val="tx1">
                    <a:lumMod val="50000"/>
                  </a:schemeClr>
                </a:solidFill>
                <a:latin typeface="Segoe Light" pitchFamily="34" charset="0"/>
              </a:endParaRPr>
            </a:p>
          </p:txBody>
        </p:sp>
        <p:sp>
          <p:nvSpPr>
            <p:cNvPr id="10" name="Freeform 12"/>
            <p:cNvSpPr>
              <a:spLocks noEditPoints="1"/>
            </p:cNvSpPr>
            <p:nvPr/>
          </p:nvSpPr>
          <p:spPr bwMode="black">
            <a:xfrm>
              <a:off x="8672460" y="-1154296"/>
              <a:ext cx="1811337" cy="539422"/>
            </a:xfrm>
            <a:custGeom>
              <a:avLst/>
              <a:gdLst>
                <a:gd name="T0" fmla="*/ 480 w 480"/>
                <a:gd name="T1" fmla="*/ 81 h 143"/>
                <a:gd name="T2" fmla="*/ 478 w 480"/>
                <a:gd name="T3" fmla="*/ 81 h 143"/>
                <a:gd name="T4" fmla="*/ 430 w 480"/>
                <a:gd name="T5" fmla="*/ 106 h 143"/>
                <a:gd name="T6" fmla="*/ 390 w 480"/>
                <a:gd name="T7" fmla="*/ 107 h 143"/>
                <a:gd name="T8" fmla="*/ 242 w 480"/>
                <a:gd name="T9" fmla="*/ 62 h 143"/>
                <a:gd name="T10" fmla="*/ 74 w 480"/>
                <a:gd name="T11" fmla="*/ 1 h 143"/>
                <a:gd name="T12" fmla="*/ 11 w 480"/>
                <a:gd name="T13" fmla="*/ 19 h 143"/>
                <a:gd name="T14" fmla="*/ 0 w 480"/>
                <a:gd name="T15" fmla="*/ 53 h 143"/>
                <a:gd name="T16" fmla="*/ 34 w 480"/>
                <a:gd name="T17" fmla="*/ 89 h 143"/>
                <a:gd name="T18" fmla="*/ 47 w 480"/>
                <a:gd name="T19" fmla="*/ 90 h 143"/>
                <a:gd name="T20" fmla="*/ 47 w 480"/>
                <a:gd name="T21" fmla="*/ 102 h 143"/>
                <a:gd name="T22" fmla="*/ 59 w 480"/>
                <a:gd name="T23" fmla="*/ 117 h 143"/>
                <a:gd name="T24" fmla="*/ 375 w 480"/>
                <a:gd name="T25" fmla="*/ 143 h 143"/>
                <a:gd name="T26" fmla="*/ 396 w 480"/>
                <a:gd name="T27" fmla="*/ 139 h 143"/>
                <a:gd name="T28" fmla="*/ 408 w 480"/>
                <a:gd name="T29" fmla="*/ 123 h 143"/>
                <a:gd name="T30" fmla="*/ 408 w 480"/>
                <a:gd name="T31" fmla="*/ 115 h 143"/>
                <a:gd name="T32" fmla="*/ 454 w 480"/>
                <a:gd name="T33" fmla="*/ 105 h 143"/>
                <a:gd name="T34" fmla="*/ 480 w 480"/>
                <a:gd name="T35" fmla="*/ 82 h 143"/>
                <a:gd name="T36" fmla="*/ 480 w 480"/>
                <a:gd name="T37" fmla="*/ 81 h 143"/>
                <a:gd name="T38" fmla="*/ 47 w 480"/>
                <a:gd name="T39" fmla="*/ 73 h 143"/>
                <a:gd name="T40" fmla="*/ 11 w 480"/>
                <a:gd name="T41" fmla="*/ 51 h 143"/>
                <a:gd name="T42" fmla="*/ 21 w 480"/>
                <a:gd name="T43" fmla="*/ 26 h 143"/>
                <a:gd name="T44" fmla="*/ 47 w 480"/>
                <a:gd name="T45" fmla="*/ 18 h 143"/>
                <a:gd name="T46" fmla="*/ 47 w 480"/>
                <a:gd name="T47" fmla="*/ 7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0" h="143">
                  <a:moveTo>
                    <a:pt x="480" y="81"/>
                  </a:moveTo>
                  <a:cubicBezTo>
                    <a:pt x="479" y="80"/>
                    <a:pt x="478" y="81"/>
                    <a:pt x="478" y="81"/>
                  </a:cubicBezTo>
                  <a:cubicBezTo>
                    <a:pt x="463" y="97"/>
                    <a:pt x="443" y="103"/>
                    <a:pt x="430" y="106"/>
                  </a:cubicBezTo>
                  <a:cubicBezTo>
                    <a:pt x="420" y="108"/>
                    <a:pt x="408" y="108"/>
                    <a:pt x="390" y="107"/>
                  </a:cubicBezTo>
                  <a:cubicBezTo>
                    <a:pt x="350" y="103"/>
                    <a:pt x="301" y="91"/>
                    <a:pt x="242" y="62"/>
                  </a:cubicBezTo>
                  <a:cubicBezTo>
                    <a:pt x="169" y="25"/>
                    <a:pt x="119" y="3"/>
                    <a:pt x="74" y="1"/>
                  </a:cubicBezTo>
                  <a:cubicBezTo>
                    <a:pt x="54" y="0"/>
                    <a:pt x="26" y="1"/>
                    <a:pt x="11" y="19"/>
                  </a:cubicBezTo>
                  <a:cubicBezTo>
                    <a:pt x="3" y="27"/>
                    <a:pt x="0" y="40"/>
                    <a:pt x="0" y="53"/>
                  </a:cubicBezTo>
                  <a:cubicBezTo>
                    <a:pt x="1" y="80"/>
                    <a:pt x="23" y="88"/>
                    <a:pt x="34" y="89"/>
                  </a:cubicBezTo>
                  <a:cubicBezTo>
                    <a:pt x="38" y="90"/>
                    <a:pt x="43" y="91"/>
                    <a:pt x="47" y="90"/>
                  </a:cubicBezTo>
                  <a:cubicBezTo>
                    <a:pt x="47" y="97"/>
                    <a:pt x="47" y="101"/>
                    <a:pt x="47" y="102"/>
                  </a:cubicBezTo>
                  <a:cubicBezTo>
                    <a:pt x="47" y="112"/>
                    <a:pt x="50" y="116"/>
                    <a:pt x="59" y="117"/>
                  </a:cubicBezTo>
                  <a:cubicBezTo>
                    <a:pt x="68" y="117"/>
                    <a:pt x="371" y="143"/>
                    <a:pt x="375" y="143"/>
                  </a:cubicBezTo>
                  <a:cubicBezTo>
                    <a:pt x="380" y="143"/>
                    <a:pt x="391" y="142"/>
                    <a:pt x="396" y="139"/>
                  </a:cubicBezTo>
                  <a:cubicBezTo>
                    <a:pt x="401" y="136"/>
                    <a:pt x="408" y="133"/>
                    <a:pt x="408" y="123"/>
                  </a:cubicBezTo>
                  <a:cubicBezTo>
                    <a:pt x="408" y="115"/>
                    <a:pt x="408" y="115"/>
                    <a:pt x="408" y="115"/>
                  </a:cubicBezTo>
                  <a:cubicBezTo>
                    <a:pt x="425" y="115"/>
                    <a:pt x="441" y="111"/>
                    <a:pt x="454" y="105"/>
                  </a:cubicBezTo>
                  <a:cubicBezTo>
                    <a:pt x="464" y="100"/>
                    <a:pt x="473" y="92"/>
                    <a:pt x="480" y="82"/>
                  </a:cubicBezTo>
                  <a:cubicBezTo>
                    <a:pt x="480" y="82"/>
                    <a:pt x="480" y="81"/>
                    <a:pt x="480" y="81"/>
                  </a:cubicBezTo>
                  <a:close/>
                  <a:moveTo>
                    <a:pt x="47" y="73"/>
                  </a:moveTo>
                  <a:cubicBezTo>
                    <a:pt x="31" y="73"/>
                    <a:pt x="12" y="69"/>
                    <a:pt x="11" y="51"/>
                  </a:cubicBezTo>
                  <a:cubicBezTo>
                    <a:pt x="10" y="41"/>
                    <a:pt x="13" y="33"/>
                    <a:pt x="21" y="26"/>
                  </a:cubicBezTo>
                  <a:cubicBezTo>
                    <a:pt x="29" y="20"/>
                    <a:pt x="37" y="19"/>
                    <a:pt x="47" y="18"/>
                  </a:cubicBezTo>
                  <a:cubicBezTo>
                    <a:pt x="47" y="39"/>
                    <a:pt x="47" y="58"/>
                    <a:pt x="47" y="73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36" tIns="45718" rIns="91436" bIns="45718" anchor="ctr"/>
            <a:lstStyle/>
            <a:p>
              <a:pPr defTabSz="740740" eaLnBrk="1" hangingPunct="1">
                <a:defRPr/>
              </a:pPr>
              <a:endParaRPr lang="en-US" spc="-122">
                <a:solidFill>
                  <a:schemeClr val="tx1">
                    <a:lumMod val="50000"/>
                  </a:schemeClr>
                </a:solidFill>
                <a:latin typeface="Segoe Light" pitchFamily="34" charset="0"/>
              </a:endParaRPr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black">
            <a:xfrm>
              <a:off x="8850456" y="-1818199"/>
              <a:ext cx="1361118" cy="560169"/>
            </a:xfrm>
            <a:custGeom>
              <a:avLst/>
              <a:gdLst>
                <a:gd name="T0" fmla="*/ 137 w 363"/>
                <a:gd name="T1" fmla="*/ 138 h 148"/>
                <a:gd name="T2" fmla="*/ 163 w 363"/>
                <a:gd name="T3" fmla="*/ 148 h 148"/>
                <a:gd name="T4" fmla="*/ 189 w 363"/>
                <a:gd name="T5" fmla="*/ 140 h 148"/>
                <a:gd name="T6" fmla="*/ 363 w 363"/>
                <a:gd name="T7" fmla="*/ 32 h 148"/>
                <a:gd name="T8" fmla="*/ 363 w 363"/>
                <a:gd name="T9" fmla="*/ 19 h 148"/>
                <a:gd name="T10" fmla="*/ 348 w 363"/>
                <a:gd name="T11" fmla="*/ 3 h 148"/>
                <a:gd name="T12" fmla="*/ 335 w 363"/>
                <a:gd name="T13" fmla="*/ 0 h 148"/>
                <a:gd name="T14" fmla="*/ 330 w 363"/>
                <a:gd name="T15" fmla="*/ 0 h 148"/>
                <a:gd name="T16" fmla="*/ 13 w 363"/>
                <a:gd name="T17" fmla="*/ 14 h 148"/>
                <a:gd name="T18" fmla="*/ 0 w 363"/>
                <a:gd name="T19" fmla="*/ 27 h 148"/>
                <a:gd name="T20" fmla="*/ 0 w 363"/>
                <a:gd name="T21" fmla="*/ 38 h 148"/>
                <a:gd name="T22" fmla="*/ 137 w 363"/>
                <a:gd name="T23" fmla="*/ 13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3" h="148">
                  <a:moveTo>
                    <a:pt x="137" y="138"/>
                  </a:moveTo>
                  <a:cubicBezTo>
                    <a:pt x="146" y="145"/>
                    <a:pt x="154" y="148"/>
                    <a:pt x="163" y="148"/>
                  </a:cubicBezTo>
                  <a:cubicBezTo>
                    <a:pt x="172" y="148"/>
                    <a:pt x="181" y="145"/>
                    <a:pt x="189" y="140"/>
                  </a:cubicBezTo>
                  <a:cubicBezTo>
                    <a:pt x="202" y="132"/>
                    <a:pt x="312" y="64"/>
                    <a:pt x="363" y="32"/>
                  </a:cubicBezTo>
                  <a:cubicBezTo>
                    <a:pt x="363" y="19"/>
                    <a:pt x="363" y="19"/>
                    <a:pt x="363" y="19"/>
                  </a:cubicBezTo>
                  <a:cubicBezTo>
                    <a:pt x="363" y="9"/>
                    <a:pt x="355" y="5"/>
                    <a:pt x="348" y="3"/>
                  </a:cubicBezTo>
                  <a:cubicBezTo>
                    <a:pt x="344" y="1"/>
                    <a:pt x="339" y="1"/>
                    <a:pt x="335" y="0"/>
                  </a:cubicBezTo>
                  <a:cubicBezTo>
                    <a:pt x="334" y="0"/>
                    <a:pt x="332" y="0"/>
                    <a:pt x="330" y="0"/>
                  </a:cubicBezTo>
                  <a:cubicBezTo>
                    <a:pt x="328" y="0"/>
                    <a:pt x="22" y="14"/>
                    <a:pt x="13" y="14"/>
                  </a:cubicBezTo>
                  <a:cubicBezTo>
                    <a:pt x="4" y="14"/>
                    <a:pt x="0" y="18"/>
                    <a:pt x="0" y="27"/>
                  </a:cubicBezTo>
                  <a:cubicBezTo>
                    <a:pt x="0" y="28"/>
                    <a:pt x="0" y="30"/>
                    <a:pt x="0" y="38"/>
                  </a:cubicBezTo>
                  <a:cubicBezTo>
                    <a:pt x="40" y="66"/>
                    <a:pt x="126" y="130"/>
                    <a:pt x="137" y="138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36" tIns="45718" rIns="91436" bIns="45718" anchor="ctr"/>
            <a:lstStyle/>
            <a:p>
              <a:pPr defTabSz="740740" eaLnBrk="1" hangingPunct="1">
                <a:defRPr/>
              </a:pPr>
              <a:endParaRPr lang="en-US" spc="-122">
                <a:solidFill>
                  <a:schemeClr val="tx1">
                    <a:lumMod val="50000"/>
                  </a:schemeClr>
                </a:solidFill>
                <a:latin typeface="Segoe Ligh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04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3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600" dirty="0" smtClean="0">
                <a:latin typeface="+mj-lt"/>
              </a:rPr>
              <a:t>Thank you!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0" y="6392863"/>
            <a:ext cx="493713" cy="365125"/>
          </a:xfrm>
        </p:spPr>
        <p:txBody>
          <a:bodyPr/>
          <a:lstStyle/>
          <a:p>
            <a:pPr>
              <a:defRPr/>
            </a:pPr>
            <a:fld id="{C13D9A8D-9D85-456C-BEE1-677EEEE14F21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50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52466</TotalTime>
  <Words>588</Words>
  <Application>Microsoft Office PowerPoint</Application>
  <PresentationFormat>On-screen Show (4:3)</PresentationFormat>
  <Paragraphs>434</Paragraphs>
  <Slides>25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Angular JS with WebAPI</vt:lpstr>
      <vt:lpstr>Angular JS with Web API</vt:lpstr>
      <vt:lpstr>Web API Introduction</vt:lpstr>
      <vt:lpstr>Web API call using Angular JS</vt:lpstr>
      <vt:lpstr>Angular Services for calling web service</vt:lpstr>
      <vt:lpstr>Angular Services for calling web service</vt:lpstr>
      <vt:lpstr>Web API call using Angular JS</vt:lpstr>
      <vt:lpstr>Web API call using Angular JS</vt:lpstr>
      <vt:lpstr>Web API call using Angular JS</vt:lpstr>
      <vt:lpstr>Web API call using Angular JS</vt:lpstr>
      <vt:lpstr>Web API call using Angular JS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Pros and Cons</vt:lpstr>
      <vt:lpstr>References</vt:lpstr>
      <vt:lpstr>Any Questions?</vt:lpstr>
      <vt:lpstr>Thank you!</vt:lpstr>
    </vt:vector>
  </TitlesOfParts>
  <Company>Cybage Software Pvt. 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Santaji Garwe</dc:creator>
  <cp:lastModifiedBy>Shitalkumar Dahiwal</cp:lastModifiedBy>
  <cp:revision>572</cp:revision>
  <dcterms:created xsi:type="dcterms:W3CDTF">2009-07-20T04:26:09Z</dcterms:created>
  <dcterms:modified xsi:type="dcterms:W3CDTF">2016-07-19T05:50:02Z</dcterms:modified>
</cp:coreProperties>
</file>
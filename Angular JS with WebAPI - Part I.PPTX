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7" r:id="rId2"/>
    <p:sldId id="288" r:id="rId3"/>
    <p:sldId id="308" r:id="rId4"/>
    <p:sldId id="312" r:id="rId5"/>
    <p:sldId id="315" r:id="rId6"/>
    <p:sldId id="313" r:id="rId7"/>
    <p:sldId id="314" r:id="rId8"/>
    <p:sldId id="346" r:id="rId9"/>
    <p:sldId id="319" r:id="rId10"/>
    <p:sldId id="321" r:id="rId11"/>
    <p:sldId id="347" r:id="rId12"/>
    <p:sldId id="320" r:id="rId13"/>
    <p:sldId id="323" r:id="rId14"/>
    <p:sldId id="345" r:id="rId15"/>
    <p:sldId id="348" r:id="rId16"/>
    <p:sldId id="349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419">
          <p15:clr>
            <a:srgbClr val="A4A3A4"/>
          </p15:clr>
        </p15:guide>
        <p15:guide id="2" orient="horz" pos="4164">
          <p15:clr>
            <a:srgbClr val="A4A3A4"/>
          </p15:clr>
        </p15:guide>
        <p15:guide id="3" orient="horz" pos="1171">
          <p15:clr>
            <a:srgbClr val="A4A3A4"/>
          </p15:clr>
        </p15:guide>
        <p15:guide id="4" orient="horz" pos="3505">
          <p15:clr>
            <a:srgbClr val="A4A3A4"/>
          </p15:clr>
        </p15:guide>
        <p15:guide id="5" orient="horz" pos="1685">
          <p15:clr>
            <a:srgbClr val="A4A3A4"/>
          </p15:clr>
        </p15:guide>
        <p15:guide id="6" pos="2880">
          <p15:clr>
            <a:srgbClr val="A4A3A4"/>
          </p15:clr>
        </p15:guide>
        <p15:guide id="7" pos="5616">
          <p15:clr>
            <a:srgbClr val="A4A3A4"/>
          </p15:clr>
        </p15:guide>
        <p15:guide id="8" pos="144">
          <p15:clr>
            <a:srgbClr val="A4A3A4"/>
          </p15:clr>
        </p15:guide>
        <p15:guide id="9">
          <p15:clr>
            <a:srgbClr val="A4A3A4"/>
          </p15:clr>
        </p15:guide>
        <p15:guide id="10" pos="1104">
          <p15:clr>
            <a:srgbClr val="A4A3A4"/>
          </p15:clr>
        </p15:guide>
        <p15:guide id="11" pos="1591">
          <p15:clr>
            <a:srgbClr val="A4A3A4"/>
          </p15:clr>
        </p15:guide>
        <p15:guide id="12" pos="3024">
          <p15:clr>
            <a:srgbClr val="A4A3A4"/>
          </p15:clr>
        </p15:guide>
        <p15:guide id="13" pos="1438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0075B0"/>
    <a:srgbClr val="00547E"/>
    <a:srgbClr val="0093DD"/>
    <a:srgbClr val="FFFFFF"/>
    <a:srgbClr val="69CAFB"/>
    <a:srgbClr val="44BDFA"/>
    <a:srgbClr val="0085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42" autoAdjust="0"/>
    <p:restoredTop sz="94434" autoAdjust="0"/>
  </p:normalViewPr>
  <p:slideViewPr>
    <p:cSldViewPr snapToGrid="0" showGuides="1">
      <p:cViewPr>
        <p:scale>
          <a:sx n="90" d="100"/>
          <a:sy n="90" d="100"/>
        </p:scale>
        <p:origin x="-960" y="534"/>
      </p:cViewPr>
      <p:guideLst>
        <p:guide orient="horz" pos="1419"/>
        <p:guide orient="horz" pos="4164"/>
        <p:guide orient="horz" pos="1171"/>
        <p:guide orient="horz" pos="3505"/>
        <p:guide orient="horz" pos="1685"/>
        <p:guide pos="2880"/>
        <p:guide pos="5616"/>
        <p:guide pos="144"/>
        <p:guide/>
        <p:guide pos="1104"/>
        <p:guide pos="1591"/>
        <p:guide pos="3024"/>
        <p:guide pos="14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-202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3DB0290-AD4D-4875-AE36-9B95EED37B23}" type="datetimeFigureOut">
              <a:rPr lang="en-US"/>
              <a:pPr>
                <a:defRPr/>
              </a:pPr>
              <a:t>7/18/2016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92957E-9FAD-400F-965F-6B63005E9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2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4DB1155-23EC-48ED-968C-871B97B5CB18}" type="datetimeFigureOut">
              <a:rPr lang="en-US"/>
              <a:pPr>
                <a:defRPr/>
              </a:pPr>
              <a:t>7/18/2016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8DA488-622B-4B03-89F7-0C7090BEF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905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56D01E-7CD5-4779-B5A8-6F713FF6595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915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660EB3A-D604-4AB8-B6FE-517D58584C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6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1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iStock_000005255967_WBack_0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4" t="21" b="7971"/>
          <a:stretch>
            <a:fillRect/>
          </a:stretch>
        </p:blipFill>
        <p:spPr bwMode="auto">
          <a:xfrm>
            <a:off x="0" y="690563"/>
            <a:ext cx="9144000" cy="616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E024804-5FE4-43EB-A3DC-CE9465AC980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AE39FDE-B22A-46FC-A160-90B07DD945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2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Option - Option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-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5225" b="14674"/>
          <a:stretch>
            <a:fillRect/>
          </a:stretch>
        </p:blipFill>
        <p:spPr bwMode="auto">
          <a:xfrm>
            <a:off x="0" y="687388"/>
            <a:ext cx="9144000" cy="617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26733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26733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3097887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C41715D-A6B8-40A7-95E6-CFD2F83C7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2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D295889-5643-4F2A-A2EA-6C57F8E41B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5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- Option 3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iStock_000002285402XSmall_02.jpg"/>
          <p:cNvPicPr>
            <a:picLocks noChangeAspect="1"/>
          </p:cNvPicPr>
          <p:nvPr userDrawn="1"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" t="3665" r="1407"/>
          <a:stretch>
            <a:fillRect/>
          </a:stretch>
        </p:blipFill>
        <p:spPr bwMode="auto">
          <a:xfrm>
            <a:off x="0" y="687388"/>
            <a:ext cx="9142413" cy="616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708172-4FBD-4E30-AF6C-AEA3E3461C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8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EF7CF83-7D07-416B-9A2E-8A92D31C37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with Text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633538" y="1892300"/>
            <a:ext cx="6291262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rgbClr val="262626"/>
              </a:solidFill>
              <a:latin typeface="Microsoft Sans Serif" pitchFamily="34" charset="0"/>
              <a:ea typeface="Kozuka Gothic Pro L" pitchFamily="34" charset="-128"/>
              <a:cs typeface="Microsoft Sans Serif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254844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CC72EAB-1B23-42D4-AE30-1C46AF8970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/ Content /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3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C87B666-782D-45DF-B949-4849698477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4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/Content/Bulle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629" b="8450"/>
          <a:stretch>
            <a:fillRect/>
          </a:stretch>
        </p:blipFill>
        <p:spPr bwMode="auto">
          <a:xfrm>
            <a:off x="2552700" y="2982913"/>
            <a:ext cx="6591300" cy="387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1721802"/>
            <a:ext cx="7269734" cy="4724717"/>
          </a:xfrm>
          <a:prstGeom prst="rect">
            <a:avLst/>
          </a:prstGeom>
        </p:spPr>
        <p:txBody>
          <a:bodyPr/>
          <a:lstStyle>
            <a:lvl1pPr marL="457200" indent="-228600">
              <a:buFont typeface="Arial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32EA29C-C541-4170-82C5-9362BD02D0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2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lide with Text -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5306251"/>
            <a:ext cx="7269734" cy="1423733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52600" y="1856231"/>
            <a:ext cx="5644896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89CA7F7-F4C4-4DC2-8A57-21C659CD72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98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1"/>
            <a:ext cx="4260850" cy="3154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/>
          </p:nvPr>
        </p:nvSpPr>
        <p:spPr>
          <a:xfrm>
            <a:off x="4572000" y="1758379"/>
            <a:ext cx="4343400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1EA9D3A-9DF0-413E-93DD-8C0E48055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92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Tex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85800"/>
            <a:ext cx="1527175" cy="77152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85800"/>
            <a:ext cx="7623175" cy="77152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209550" y="2327275"/>
            <a:ext cx="2155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Microsoft Sans Serif" pitchFamily="34" charset="0"/>
                <a:ea typeface="Kozuka Gothic Pro L" pitchFamily="34" charset="-128"/>
                <a:cs typeface="Microsoft Sans Serif" pitchFamily="34" charset="0"/>
              </a:rPr>
              <a:t>Place image here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56232"/>
            <a:ext cx="2136775" cy="1582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58112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0"/>
          </p:nvPr>
        </p:nvSpPr>
        <p:spPr>
          <a:xfrm>
            <a:off x="2498280" y="1721803"/>
            <a:ext cx="6389687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2D103BA-A63D-434B-BBAA-F783C63294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201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auto">
          <a:xfrm flipH="1">
            <a:off x="-9525" y="1457325"/>
            <a:ext cx="2286000" cy="795338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 flipH="1">
            <a:off x="4572000" y="1457325"/>
            <a:ext cx="2286000" cy="795338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 flipH="1">
            <a:off x="6858000" y="1457325"/>
            <a:ext cx="2286000" cy="795338"/>
          </a:xfrm>
          <a:prstGeom prst="rect">
            <a:avLst/>
          </a:prstGeom>
          <a:solidFill>
            <a:srgbClr val="EB7E0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 bwMode="auto">
          <a:xfrm flipH="1">
            <a:off x="2278063" y="1457325"/>
            <a:ext cx="2293937" cy="795338"/>
          </a:xfrm>
          <a:prstGeom prst="rect">
            <a:avLst/>
          </a:prstGeom>
          <a:solidFill>
            <a:srgbClr val="0075B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 bwMode="auto">
          <a:xfrm flipH="1" flipV="1">
            <a:off x="2278063" y="2252663"/>
            <a:ext cx="2293937" cy="3343275"/>
          </a:xfrm>
          <a:prstGeom prst="rect">
            <a:avLst/>
          </a:prstGeom>
          <a:solidFill>
            <a:srgbClr val="69CAFB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 bwMode="auto">
          <a:xfrm flipH="1" flipV="1">
            <a:off x="4572000" y="2252663"/>
            <a:ext cx="2286000" cy="3343275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 bwMode="auto">
          <a:xfrm flipH="1" flipV="1">
            <a:off x="-9525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Rectangle 19"/>
          <p:cNvSpPr/>
          <p:nvPr userDrawn="1"/>
        </p:nvSpPr>
        <p:spPr bwMode="auto">
          <a:xfrm flipH="1" flipV="1">
            <a:off x="6858000" y="2252663"/>
            <a:ext cx="2286000" cy="3343275"/>
          </a:xfrm>
          <a:prstGeom prst="rect">
            <a:avLst/>
          </a:prstGeom>
          <a:solidFill>
            <a:srgbClr val="FDD9B1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17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67713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7"/>
          </p:nvPr>
        </p:nvSpPr>
        <p:spPr>
          <a:xfrm>
            <a:off x="128017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67712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2CAF88E-6F27-44C8-9EA2-48A00F8046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flipV="1">
            <a:off x="2286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6858000" y="2252663"/>
            <a:ext cx="2286000" cy="3343275"/>
          </a:xfrm>
          <a:prstGeom prst="rect">
            <a:avLst/>
          </a:prstGeom>
          <a:solidFill>
            <a:srgbClr val="44BDF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 flipV="1">
            <a:off x="4572000" y="2252663"/>
            <a:ext cx="2286000" cy="3343275"/>
          </a:xfrm>
          <a:prstGeom prst="rect">
            <a:avLst/>
          </a:prstGeom>
          <a:solidFill>
            <a:srgbClr val="65C9F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 flipV="1">
            <a:off x="2286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 flipV="1">
            <a:off x="4572000" y="1457325"/>
            <a:ext cx="2286000" cy="795338"/>
          </a:xfrm>
          <a:prstGeom prst="rect">
            <a:avLst/>
          </a:prstGeom>
          <a:solidFill>
            <a:srgbClr val="00547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 flipV="1">
            <a:off x="6858000" y="1457325"/>
            <a:ext cx="2286000" cy="795338"/>
          </a:xfrm>
          <a:prstGeom prst="rect">
            <a:avLst/>
          </a:prstGeom>
          <a:solidFill>
            <a:srgbClr val="00547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 flipH="1">
            <a:off x="0" y="1457325"/>
            <a:ext cx="2286000" cy="792163"/>
          </a:xfrm>
          <a:prstGeom prst="rect">
            <a:avLst/>
          </a:prstGeom>
          <a:solidFill>
            <a:srgbClr val="00547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20" name="Group 47"/>
          <p:cNvGrpSpPr>
            <a:grpSpLocks/>
          </p:cNvGrpSpPr>
          <p:nvPr userDrawn="1"/>
        </p:nvGrpSpPr>
        <p:grpSpPr bwMode="auto">
          <a:xfrm>
            <a:off x="1836738" y="1608138"/>
            <a:ext cx="352425" cy="266700"/>
            <a:chOff x="1773238" y="1957388"/>
            <a:chExt cx="352425" cy="266700"/>
          </a:xfrm>
        </p:grpSpPr>
        <p:sp>
          <p:nvSpPr>
            <p:cNvPr id="21" name="Isosceles Triangle 20"/>
            <p:cNvSpPr/>
            <p:nvPr/>
          </p:nvSpPr>
          <p:spPr>
            <a:xfrm rot="5400000">
              <a:off x="1716088" y="2014538"/>
              <a:ext cx="266700" cy="152400"/>
            </a:xfrm>
            <a:prstGeom prst="triangle">
              <a:avLst/>
            </a:prstGeom>
            <a:solidFill>
              <a:srgbClr val="00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 rot="5400000">
              <a:off x="1806575" y="2014538"/>
              <a:ext cx="266700" cy="152400"/>
            </a:xfrm>
            <a:prstGeom prst="triangle">
              <a:avLst/>
            </a:prstGeom>
            <a:solidFill>
              <a:srgbClr val="004B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Isosceles Triangle 25"/>
            <p:cNvSpPr/>
            <p:nvPr/>
          </p:nvSpPr>
          <p:spPr>
            <a:xfrm rot="5400000">
              <a:off x="1916113" y="2014538"/>
              <a:ext cx="266700" cy="152400"/>
            </a:xfrm>
            <a:prstGeom prst="triangle">
              <a:avLst/>
            </a:prstGeom>
            <a:solidFill>
              <a:srgbClr val="00547E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5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62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48856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700" kern="1200" dirty="0" smtClean="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2000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0"/>
          </p:nvPr>
        </p:nvSpPr>
        <p:spPr>
          <a:xfrm>
            <a:off x="6857999" y="2413826"/>
            <a:ext cx="1920240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9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C0BA471-DB2D-4668-BC07-75978C8F4B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66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2286000" y="1457325"/>
            <a:ext cx="3400425" cy="796925"/>
          </a:xfrm>
          <a:prstGeom prst="rect">
            <a:avLst/>
          </a:prstGeom>
          <a:solidFill>
            <a:srgbClr val="B3600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flipV="1">
            <a:off x="5686425" y="1457325"/>
            <a:ext cx="3457575" cy="796925"/>
          </a:xfrm>
          <a:prstGeom prst="rect">
            <a:avLst/>
          </a:prstGeom>
          <a:solidFill>
            <a:srgbClr val="B36005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flipV="1">
            <a:off x="2271713" y="2254250"/>
            <a:ext cx="3414712" cy="3403600"/>
          </a:xfrm>
          <a:prstGeom prst="rect">
            <a:avLst/>
          </a:prstGeom>
          <a:solidFill>
            <a:srgbClr val="FAB16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flipV="1">
            <a:off x="5686425" y="2254250"/>
            <a:ext cx="3457575" cy="3403600"/>
          </a:xfrm>
          <a:prstGeom prst="rect">
            <a:avLst/>
          </a:prstGeom>
          <a:solidFill>
            <a:srgbClr val="FAB16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457325"/>
            <a:ext cx="2286000" cy="796925"/>
          </a:xfrm>
          <a:prstGeom prst="rect">
            <a:avLst/>
          </a:prstGeom>
          <a:solidFill>
            <a:srgbClr val="B36005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5591175"/>
            <a:ext cx="9139238" cy="71438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0" y="687388"/>
            <a:ext cx="9144000" cy="771525"/>
          </a:xfrm>
          <a:prstGeom prst="rect">
            <a:avLst/>
          </a:prstGeom>
          <a:solidFill>
            <a:srgbClr val="262626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6" name="Group 42"/>
          <p:cNvGrpSpPr>
            <a:grpSpLocks/>
          </p:cNvGrpSpPr>
          <p:nvPr userDrawn="1"/>
        </p:nvGrpSpPr>
        <p:grpSpPr bwMode="auto">
          <a:xfrm>
            <a:off x="1827213" y="1611313"/>
            <a:ext cx="371475" cy="266700"/>
            <a:chOff x="1104900" y="1885950"/>
            <a:chExt cx="371475" cy="266700"/>
          </a:xfrm>
        </p:grpSpPr>
        <p:sp>
          <p:nvSpPr>
            <p:cNvPr id="17" name="Isosceles Triangle 16"/>
            <p:cNvSpPr/>
            <p:nvPr userDrawn="1"/>
          </p:nvSpPr>
          <p:spPr>
            <a:xfrm rot="5400000">
              <a:off x="1047750" y="1943100"/>
              <a:ext cx="266700" cy="152400"/>
            </a:xfrm>
            <a:prstGeom prst="triangle">
              <a:avLst/>
            </a:prstGeom>
            <a:solidFill>
              <a:srgbClr val="9F5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Isosceles Triangle 17"/>
            <p:cNvSpPr/>
            <p:nvPr userDrawn="1"/>
          </p:nvSpPr>
          <p:spPr>
            <a:xfrm rot="5400000">
              <a:off x="1157287" y="1943100"/>
              <a:ext cx="266700" cy="152400"/>
            </a:xfrm>
            <a:prstGeom prst="triangle">
              <a:avLst/>
            </a:prstGeom>
            <a:solidFill>
              <a:srgbClr val="B36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5400000">
              <a:off x="1266825" y="1943100"/>
              <a:ext cx="266700" cy="152400"/>
            </a:xfrm>
            <a:prstGeom prst="triangle">
              <a:avLst/>
            </a:prstGeom>
            <a:solidFill>
              <a:srgbClr val="B36005">
                <a:alpha val="7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0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idx="1"/>
          </p:nvPr>
        </p:nvSpPr>
        <p:spPr>
          <a:xfrm>
            <a:off x="3175" y="2252663"/>
            <a:ext cx="2282825" cy="33385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32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12776" y="799720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25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11"/>
          </p:nvPr>
        </p:nvSpPr>
        <p:spPr>
          <a:xfrm>
            <a:off x="2295144" y="1545146"/>
            <a:ext cx="3182111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3"/>
          </p:nvPr>
        </p:nvSpPr>
        <p:spPr>
          <a:xfrm>
            <a:off x="5669280" y="1545146"/>
            <a:ext cx="3236976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2295144" y="2413826"/>
            <a:ext cx="3191256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678424" y="2413826"/>
            <a:ext cx="3227832" cy="713422"/>
          </a:xfrm>
          <a:prstGeom prst="rect">
            <a:avLst/>
          </a:prstGeom>
        </p:spPr>
        <p:txBody>
          <a:bodyPr/>
          <a:lstStyle>
            <a:lvl1pPr marL="119063" marR="0" indent="-1190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914400" indent="0">
              <a:buNone/>
              <a:defRPr sz="100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3716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828800" indent="0">
              <a:buNone/>
              <a:defRPr sz="9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109728" y="1545146"/>
            <a:ext cx="1920240" cy="7134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C441B02-83F8-43C4-8D46-D305778B38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07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652963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652963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658112" y="5088256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9D2AD7-9239-4C1F-A575-95B5CC0AD3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74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lum bright="2000" contrast="-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/>
          <a:stretch>
            <a:fillRect/>
          </a:stretch>
        </p:blipFill>
        <p:spPr bwMode="auto">
          <a:xfrm>
            <a:off x="0" y="695325"/>
            <a:ext cx="9142413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 txBox="1">
            <a:spLocks noGrp="1"/>
          </p:cNvSpPr>
          <p:nvPr userDrawn="1"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Software Pvt. Ltd. All Rights Reserved. </a:t>
            </a:r>
            <a:r>
              <a:rPr lang="en-US" sz="6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 Confidential.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.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5878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520825" y="45878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5012158"/>
            <a:ext cx="7257288" cy="5666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941763" algn="l"/>
              </a:tabLst>
              <a:defRPr lang="en-US" sz="3200" kern="1200" baseline="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" y="120087"/>
            <a:ext cx="1546985" cy="4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 -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st2_10207284-potter-makes-a-jug-out-of-clay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"/>
          <a:stretch>
            <a:fillRect/>
          </a:stretch>
        </p:blipFill>
        <p:spPr bwMode="auto">
          <a:xfrm>
            <a:off x="0" y="693738"/>
            <a:ext cx="9153525" cy="616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4354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44354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693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pic>
        <p:nvPicPr>
          <p:cNvPr id="8" name="Picture 2" descr="F:\Vitthal_Share\Misc\Cybage Logo\Cybag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0" y="190500"/>
            <a:ext cx="175260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962650"/>
            <a:ext cx="9153525" cy="89535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1665288" y="5995988"/>
            <a:ext cx="7212012" cy="32226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presentation is the intellectual property of </a:t>
            </a:r>
            <a:r>
              <a:rPr lang="en-US" sz="75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Cybage</a:t>
            </a:r>
            <a: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Software Pvt. Ltd. and is meant for the usage of the intended </a:t>
            </a:r>
            <a:r>
              <a:rPr lang="en-US" sz="75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Cybage</a:t>
            </a:r>
            <a: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employee/s for training purpose only.</a:t>
            </a:r>
            <a:b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7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should not be used for any other purpose or reproduced in any other form without written permission and consent of the concerned authorities.</a:t>
            </a:r>
          </a:p>
        </p:txBody>
      </p:sp>
      <p:sp>
        <p:nvSpPr>
          <p:cNvPr id="12" name="Footer Placeholder 3"/>
          <p:cNvSpPr txBox="1">
            <a:spLocks noGrp="1"/>
          </p:cNvSpPr>
          <p:nvPr userDrawn="1"/>
        </p:nvSpPr>
        <p:spPr bwMode="auto">
          <a:xfrm>
            <a:off x="5705475" y="6499225"/>
            <a:ext cx="3257550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Copyright © 2013. 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48502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00E985D-2868-48EA-86FA-93658EF775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118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8" descr="F:\Vitthal_Share\PPTs\Images\iStock_000000199967Small_0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1" b="8846"/>
          <a:stretch>
            <a:fillRect/>
          </a:stretch>
        </p:blipFill>
        <p:spPr bwMode="auto">
          <a:xfrm>
            <a:off x="2463800" y="2852738"/>
            <a:ext cx="6680200" cy="400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3"/>
          <p:cNvSpPr txBox="1">
            <a:spLocks noGrp="1"/>
          </p:cNvSpPr>
          <p:nvPr userDrawn="1"/>
        </p:nvSpPr>
        <p:spPr bwMode="auto">
          <a:xfrm>
            <a:off x="5705475" y="6499225"/>
            <a:ext cx="3257550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Copyright © 2013. 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4858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4516438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78970"/>
            <a:ext cx="7269734" cy="361207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tabLst>
                <a:tab pos="1144588" algn="l"/>
              </a:tabLst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Click to edit Master text styles</a:t>
            </a:r>
          </a:p>
          <a:p>
            <a:pPr lvl="3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9AAD9A1-45CE-43CF-9FBC-E33801BB26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43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 with Text - Option 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-6350" y="693738"/>
            <a:ext cx="9144000" cy="6164262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-6350" y="693738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514475" y="693738"/>
            <a:ext cx="762952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666" y="2523554"/>
            <a:ext cx="7269734" cy="3612070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itchFamily="34" charset="0"/>
              <a:buNone/>
              <a:defRPr sz="1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304913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4516438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5CCC9F8-4C73-4AE1-9003-613189B0FD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60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st2_12259679-books-and-compu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0" y="2544763"/>
            <a:ext cx="3473450" cy="422433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5435600" y="2395538"/>
            <a:ext cx="3611563" cy="4230687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33350" y="219075"/>
            <a:ext cx="13716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900">
                <a:solidFill>
                  <a:srgbClr val="0075B0"/>
                </a:solidFill>
                <a:ea typeface="Kozuka Gothic Pro R" pitchFamily="34" charset="-128"/>
                <a:cs typeface="Arial" charset="0"/>
              </a:rPr>
              <a:t>www.cybage.com</a:t>
            </a:r>
          </a:p>
        </p:txBody>
      </p:sp>
      <p:sp>
        <p:nvSpPr>
          <p:cNvPr id="8" name="Footer Placeholder 3"/>
          <p:cNvSpPr txBox="1">
            <a:spLocks noGrp="1"/>
          </p:cNvSpPr>
          <p:nvPr userDrawn="1"/>
        </p:nvSpPr>
        <p:spPr bwMode="auto">
          <a:xfrm>
            <a:off x="5705475" y="6499225"/>
            <a:ext cx="3257550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Copyright © 2013. Cybage Software Pvt. Ltd. All Rights Reserved. Cybage Confidential.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3941763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790DEDF-A95C-4B78-B249-478D0EBAE2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427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 - Option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4435475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4435475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658112" y="4860012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1BFB956-4CCC-41E9-87AE-331EA0C6F8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504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92150"/>
            <a:ext cx="1527175" cy="1527175"/>
          </a:xfrm>
          <a:prstGeom prst="rect">
            <a:avLst/>
          </a:prstGeom>
          <a:solidFill>
            <a:srgbClr val="F88608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520825" y="692150"/>
            <a:ext cx="7623175" cy="1527175"/>
          </a:xfrm>
          <a:prstGeom prst="rect">
            <a:avLst/>
          </a:prstGeom>
          <a:solidFill>
            <a:srgbClr val="0075B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11" descr="iStock_000008998403XSmal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075" y="3300413"/>
            <a:ext cx="4124325" cy="3094037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8112" y="1116433"/>
            <a:ext cx="7257288" cy="566610"/>
          </a:xfrm>
          <a:prstGeom prst="rect">
            <a:avLst/>
          </a:prstGeom>
        </p:spPr>
        <p:txBody>
          <a:bodyPr/>
          <a:lstStyle>
            <a:lvl1pPr algn="l">
              <a:tabLst>
                <a:tab pos="3941763" algn="l"/>
              </a:tabLst>
              <a:defRPr sz="3200" baseline="0">
                <a:solidFill>
                  <a:schemeClr val="bg1"/>
                </a:solidFill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10EBE1A-B6C4-4CB6-B7AD-8336AA8259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75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27" name="Picture 2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150" y="161925"/>
            <a:ext cx="17065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3"/>
          <p:cNvSpPr txBox="1">
            <a:spLocks noGrp="1"/>
          </p:cNvSpPr>
          <p:nvPr/>
        </p:nvSpPr>
        <p:spPr bwMode="auto">
          <a:xfrm>
            <a:off x="3733800" y="6497638"/>
            <a:ext cx="52673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50" dirty="0">
                <a:latin typeface="Kozuka Gothic Pro M" pitchFamily="34" charset="-128"/>
              </a:rPr>
              <a:t>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Copyright © </a:t>
            </a:r>
            <a:r>
              <a:rPr lang="en-US" sz="6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2014. </a:t>
            </a:r>
            <a:r>
              <a:rPr lang="en-US" sz="65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Sans Serif" pitchFamily="34" charset="0"/>
                <a:cs typeface="Microsoft Sans Serif" pitchFamily="34" charset="0"/>
              </a:rPr>
              <a:t>Cybage Software Pvt. Ltd. All Rights Reserved. Cybage Confidential.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588" y="6392863"/>
            <a:ext cx="4937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E52AEF1-4D88-4F1B-8FD8-9E21E3DC6E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347" r:id="rId19"/>
    <p:sldLayoutId id="2147484349" r:id="rId20"/>
    <p:sldLayoutId id="2147484350" r:id="rId21"/>
    <p:sldLayoutId id="2147484351" r:id="rId22"/>
    <p:sldLayoutId id="2147484354" r:id="rId23"/>
    <p:sldLayoutId id="2147484355" r:id="rId2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1658938" y="4813428"/>
            <a:ext cx="7257288" cy="5666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500"/>
              </a:spcBef>
              <a:spcAft>
                <a:spcPts val="500"/>
              </a:spcAft>
              <a:tabLst>
                <a:tab pos="1314450" algn="l"/>
              </a:tabLst>
            </a:pPr>
            <a:r>
              <a:rPr lang="en-US" altLang="en-US" sz="3600" dirty="0" smtClean="0">
                <a:latin typeface="+mj-lt"/>
              </a:rPr>
              <a:t>Angular JS with WebAPI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481BB0-CC97-4F46-A9A0-479DE5BAE266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9460" name="TextBox 3"/>
          <p:cNvSpPr txBox="1">
            <a:spLocks noChangeArrowheads="1"/>
          </p:cNvSpPr>
          <p:nvPr/>
        </p:nvSpPr>
        <p:spPr bwMode="auto">
          <a:xfrm>
            <a:off x="1658938" y="5380038"/>
            <a:ext cx="7257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14450" algn="l"/>
                <a:tab pos="3028950" algn="l"/>
                <a:tab pos="44577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chemeClr val="bg1"/>
                </a:solidFill>
                <a:latin typeface="+mn-lt"/>
              </a:rPr>
              <a:t>Authored </a:t>
            </a:r>
            <a:r>
              <a:rPr lang="en-US" altLang="en-US" sz="2000" dirty="0" smtClean="0">
                <a:solidFill>
                  <a:schemeClr val="bg1"/>
                </a:solidFill>
                <a:latin typeface="+mn-lt"/>
              </a:rPr>
              <a:t>by: Shitalkumar</a:t>
            </a:r>
            <a:r>
              <a:rPr lang="en-US" altLang="en-US" sz="2000" dirty="0">
                <a:solidFill>
                  <a:schemeClr val="bg1"/>
                </a:solidFill>
                <a:latin typeface="+mn-lt"/>
              </a:rPr>
              <a:t>	</a:t>
            </a:r>
            <a:r>
              <a:rPr lang="en-US" altLang="en-US" sz="2000" dirty="0" smtClean="0">
                <a:solidFill>
                  <a:schemeClr val="bg1"/>
                </a:solidFill>
                <a:latin typeface="+mn-lt"/>
              </a:rPr>
              <a:t>     |          Presented by:  Shitalkumar</a:t>
            </a:r>
            <a:endParaRPr lang="en-US" altLang="en-US" sz="2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103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+mj-lt"/>
              </a:rPr>
              <a:t>Agenda</a:t>
            </a:r>
            <a:endParaRPr lang="en-US" sz="3200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US" sz="2000" dirty="0" smtClean="0">
                <a:latin typeface="+mn-lt"/>
              </a:rPr>
              <a:t>		  Part - I</a:t>
            </a:r>
          </a:p>
          <a:p>
            <a:r>
              <a:rPr lang="en-US" sz="2000" dirty="0" smtClean="0">
                <a:latin typeface="+mn-lt"/>
              </a:rPr>
              <a:t>Introduction </a:t>
            </a:r>
            <a:r>
              <a:rPr lang="en-US" sz="2000" dirty="0">
                <a:latin typeface="+mn-lt"/>
              </a:rPr>
              <a:t>to Angular </a:t>
            </a:r>
            <a:r>
              <a:rPr lang="en-US" sz="2000" dirty="0" smtClean="0">
                <a:latin typeface="+mn-lt"/>
              </a:rPr>
              <a:t>JS</a:t>
            </a:r>
          </a:p>
          <a:p>
            <a:r>
              <a:rPr lang="en-US" sz="2000" dirty="0" smtClean="0">
                <a:latin typeface="+mn-lt"/>
              </a:rPr>
              <a:t>Angular setup requirement</a:t>
            </a:r>
            <a:endParaRPr lang="en-US" sz="2000" dirty="0">
              <a:latin typeface="+mn-lt"/>
            </a:endParaRPr>
          </a:p>
          <a:p>
            <a:r>
              <a:rPr lang="en-US" sz="2000" dirty="0" smtClean="0">
                <a:latin typeface="+mn-lt"/>
              </a:rPr>
              <a:t>Angular JS Features/concepts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Directives, Modules, Controllers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Services and Factory</a:t>
            </a:r>
            <a:endParaRPr lang="en-US" sz="1400" dirty="0" smtClean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Data binding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Routing </a:t>
            </a:r>
            <a:endParaRPr lang="en-US" sz="1400" dirty="0">
              <a:latin typeface="+mn-lt"/>
            </a:endParaRPr>
          </a:p>
          <a:p>
            <a:pPr marL="228600" lvl="0" indent="0">
              <a:buNone/>
            </a:pPr>
            <a:r>
              <a:rPr lang="en-US" sz="20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		Part 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- </a:t>
            </a:r>
            <a:r>
              <a:rPr lang="en-US" sz="20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II</a:t>
            </a:r>
            <a:endParaRPr lang="en-US" sz="1400" dirty="0" smtClean="0">
              <a:latin typeface="+mn-lt"/>
            </a:endParaRPr>
          </a:p>
          <a:p>
            <a:r>
              <a:rPr lang="en-US" sz="2000" dirty="0" smtClean="0">
                <a:latin typeface="+mn-lt"/>
              </a:rPr>
              <a:t>Web </a:t>
            </a:r>
            <a:r>
              <a:rPr lang="en-US" sz="2000" dirty="0">
                <a:latin typeface="+mn-lt"/>
              </a:rPr>
              <a:t>API Introduction</a:t>
            </a:r>
          </a:p>
          <a:p>
            <a:r>
              <a:rPr lang="en-US" sz="2000" dirty="0">
                <a:latin typeface="+mn-lt"/>
              </a:rPr>
              <a:t>Web API call using Angular JS</a:t>
            </a:r>
          </a:p>
          <a:p>
            <a:r>
              <a:rPr lang="en-US" sz="2000" dirty="0" smtClean="0">
                <a:latin typeface="+mn-lt"/>
              </a:rPr>
              <a:t>When to recommend</a:t>
            </a:r>
            <a:endParaRPr lang="en-US" sz="2000" dirty="0">
              <a:latin typeface="+mn-lt"/>
            </a:endParaRPr>
          </a:p>
          <a:p>
            <a:r>
              <a:rPr lang="en-US" sz="2000" dirty="0">
                <a:latin typeface="+mn-lt"/>
              </a:rPr>
              <a:t>Pros and Cons</a:t>
            </a:r>
          </a:p>
          <a:p>
            <a:r>
              <a:rPr lang="en-US" sz="2000" dirty="0">
                <a:latin typeface="+mn-lt"/>
              </a:rPr>
              <a:t>Q&amp;A</a:t>
            </a:r>
          </a:p>
          <a:p>
            <a:pPr marL="228600" indent="0">
              <a:buNone/>
            </a:pPr>
            <a:endParaRPr lang="en-US" sz="2000" dirty="0" smtClean="0"/>
          </a:p>
          <a:p>
            <a:endParaRPr lang="en-US" sz="2000" dirty="0"/>
          </a:p>
          <a:p>
            <a:endParaRPr lang="en-US" sz="2000" dirty="0" smtClean="0">
              <a:latin typeface="+mn-lt"/>
            </a:endParaRPr>
          </a:p>
          <a:p>
            <a:endParaRPr lang="en-US" sz="2000" dirty="0" smtClean="0">
              <a:latin typeface="+mn-lt"/>
            </a:endParaRPr>
          </a:p>
          <a:p>
            <a:endParaRPr lang="en-US" sz="20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2EA29C-C541-4170-82C5-9362BD02D04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8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+mj-lt"/>
              </a:rPr>
              <a:t>Introduction to Angular JS</a:t>
            </a:r>
            <a:endParaRPr lang="en-US" sz="3200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n-lt"/>
              </a:rPr>
              <a:t>What is Angular JS</a:t>
            </a:r>
          </a:p>
          <a:p>
            <a:pPr marL="0" indent="0"/>
            <a:r>
              <a:rPr lang="en-US" sz="2000" dirty="0" smtClean="0">
                <a:latin typeface="+mn-lt"/>
              </a:rPr>
              <a:t>Angular JS </a:t>
            </a:r>
            <a:r>
              <a:rPr lang="en-US" sz="2000" dirty="0">
                <a:latin typeface="+mn-lt"/>
              </a:rPr>
              <a:t>is </a:t>
            </a:r>
            <a:r>
              <a:rPr lang="en-US" sz="2000" dirty="0" smtClean="0">
                <a:latin typeface="+mn-lt"/>
              </a:rPr>
              <a:t>an </a:t>
            </a:r>
            <a:r>
              <a:rPr lang="en-US" sz="2000" dirty="0">
                <a:latin typeface="+mn-lt"/>
              </a:rPr>
              <a:t>open source client </a:t>
            </a:r>
            <a:r>
              <a:rPr lang="en-US" sz="2000" dirty="0" smtClean="0">
                <a:latin typeface="+mn-lt"/>
              </a:rPr>
              <a:t>framework started </a:t>
            </a:r>
            <a:r>
              <a:rPr lang="en-US" sz="2000" dirty="0">
                <a:latin typeface="+mn-lt"/>
              </a:rPr>
              <a:t>as </a:t>
            </a:r>
            <a:r>
              <a:rPr lang="en-US" sz="2000" dirty="0" smtClean="0">
                <a:latin typeface="+mn-lt"/>
              </a:rPr>
              <a:t>a </a:t>
            </a:r>
            <a:r>
              <a:rPr lang="en-US" sz="2000" dirty="0">
                <a:latin typeface="+mn-lt"/>
              </a:rPr>
              <a:t>project </a:t>
            </a:r>
            <a:r>
              <a:rPr lang="en-US" sz="2000" dirty="0" smtClean="0">
                <a:latin typeface="+mn-lt"/>
              </a:rPr>
              <a:t>in </a:t>
            </a:r>
            <a:r>
              <a:rPr lang="en-US" sz="2000" dirty="0">
                <a:latin typeface="+mn-lt"/>
              </a:rPr>
              <a:t>Google and currently it is open source project mainly </a:t>
            </a:r>
            <a:r>
              <a:rPr lang="en-US" sz="2000" dirty="0" smtClean="0">
                <a:latin typeface="+mn-lt"/>
              </a:rPr>
              <a:t>designed </a:t>
            </a:r>
            <a:r>
              <a:rPr lang="en-US" sz="2000" dirty="0">
                <a:latin typeface="+mn-lt"/>
              </a:rPr>
              <a:t>for single page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n-lt"/>
              </a:rPr>
              <a:t>Release History</a:t>
            </a:r>
          </a:p>
          <a:p>
            <a:pPr marL="685800" lvl="2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First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release: 20 Oct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2010</a:t>
            </a:r>
          </a:p>
          <a:p>
            <a:pPr marL="685800" lvl="2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Latest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: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1.5.6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–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27 May 2016(latest update on 1 June 16)</a:t>
            </a:r>
          </a:p>
          <a:p>
            <a:pPr marL="685800" lvl="2"/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Angular2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rPr>
              <a:t>Beta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n-lt"/>
              </a:rPr>
              <a:t>Why Angular?</a:t>
            </a:r>
          </a:p>
          <a:p>
            <a:pPr marL="228600" lvl="1"/>
            <a:r>
              <a:rPr lang="en-US" sz="1800" dirty="0" smtClean="0"/>
              <a:t>MVC components, templates, Two way binding, Routing, Dependency Injection, unit testing, latest browser support, RWD support, </a:t>
            </a:r>
            <a:r>
              <a:rPr lang="en-US" sz="1800" dirty="0"/>
              <a:t>"{{data}}" </a:t>
            </a:r>
            <a:r>
              <a:rPr lang="en-US" sz="1800" dirty="0" smtClean="0"/>
              <a:t>syntax, Angular UI Bootstrap, Angular Material etc.</a:t>
            </a:r>
            <a:endParaRPr lang="en-US" sz="1800" dirty="0"/>
          </a:p>
          <a:p>
            <a:pPr marL="228600" lvl="1"/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14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setup requirement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685800" lvl="1" indent="-457200">
              <a:buFont typeface="+mj-lt"/>
              <a:buAutoNum type="arabicPeriod"/>
            </a:pPr>
            <a:endParaRPr lang="en-US" sz="1900" dirty="0" smtClean="0"/>
          </a:p>
          <a:p>
            <a:pPr marL="685800" lvl="1" indent="-457200">
              <a:buFont typeface="+mj-lt"/>
              <a:buAutoNum type="arabicPeriod"/>
            </a:pPr>
            <a:r>
              <a:rPr lang="en-US" sz="1900" dirty="0"/>
              <a:t>Add </a:t>
            </a:r>
            <a:r>
              <a:rPr lang="en-US" sz="1900" dirty="0" smtClean="0"/>
              <a:t>AngularJS Core </a:t>
            </a:r>
            <a:r>
              <a:rPr lang="en-US" sz="1900" dirty="0" err="1" smtClean="0"/>
              <a:t>Nuget</a:t>
            </a:r>
            <a:r>
              <a:rPr lang="en-US" sz="1900" dirty="0" smtClean="0"/>
              <a:t> in visual studio web app</a:t>
            </a:r>
            <a:endParaRPr lang="en-US" sz="1900" dirty="0"/>
          </a:p>
          <a:p>
            <a:pPr marL="685800" lvl="1" indent="-457200">
              <a:buFont typeface="+mj-lt"/>
              <a:buAutoNum type="arabicPeriod"/>
            </a:pPr>
            <a:r>
              <a:rPr lang="en-US" sz="1900" dirty="0" smtClean="0"/>
              <a:t>Add </a:t>
            </a:r>
            <a:r>
              <a:rPr lang="en-US" sz="1900" dirty="0"/>
              <a:t>a script tag pointing to </a:t>
            </a:r>
            <a:r>
              <a:rPr lang="en-US" sz="1900" dirty="0" smtClean="0"/>
              <a:t>Angular</a:t>
            </a:r>
          </a:p>
          <a:p>
            <a:pPr marL="228600" lvl="1"/>
            <a:r>
              <a:rPr lang="en-US" sz="1900" dirty="0"/>
              <a:t>	</a:t>
            </a:r>
            <a:r>
              <a:rPr lang="en-US" sz="1400" dirty="0">
                <a:solidFill>
                  <a:srgbClr val="FF0000"/>
                </a:solidFill>
              </a:rPr>
              <a:t>&lt;script </a:t>
            </a:r>
            <a:r>
              <a:rPr lang="en-US" sz="1400" dirty="0" err="1">
                <a:solidFill>
                  <a:srgbClr val="FF0000"/>
                </a:solidFill>
              </a:rPr>
              <a:t>src</a:t>
            </a:r>
            <a:r>
              <a:rPr lang="en-US" sz="1400" dirty="0">
                <a:solidFill>
                  <a:srgbClr val="FF0000"/>
                </a:solidFill>
              </a:rPr>
              <a:t>=“angular.js”&gt;&lt;/script&gt;</a:t>
            </a:r>
          </a:p>
          <a:p>
            <a:pPr marL="228600" lvl="1"/>
            <a:r>
              <a:rPr lang="en-US" sz="1900" dirty="0" smtClean="0"/>
              <a:t>3.     Write </a:t>
            </a:r>
            <a:r>
              <a:rPr lang="en-US" sz="1900" dirty="0">
                <a:solidFill>
                  <a:srgbClr val="FF0000"/>
                </a:solidFill>
              </a:rPr>
              <a:t>ng-app</a:t>
            </a:r>
            <a:r>
              <a:rPr lang="en-US" sz="1900" dirty="0"/>
              <a:t> directives in HTML </a:t>
            </a:r>
            <a:r>
              <a:rPr lang="en-US" sz="1900" dirty="0" smtClean="0"/>
              <a:t>application</a:t>
            </a:r>
          </a:p>
          <a:p>
            <a:pPr marL="228600" lvl="1"/>
            <a:endParaRPr lang="en-US" sz="1900" dirty="0" smtClean="0"/>
          </a:p>
          <a:p>
            <a:pPr marL="228600" lvl="1"/>
            <a:endParaRPr lang="en-US" sz="1900" dirty="0"/>
          </a:p>
          <a:p>
            <a:pPr marL="228600" lvl="1"/>
            <a:endParaRPr lang="en-US" sz="1900" dirty="0" smtClean="0"/>
          </a:p>
          <a:p>
            <a:pPr marL="228600" lvl="1"/>
            <a:endParaRPr lang="en-US" sz="1900" dirty="0"/>
          </a:p>
          <a:p>
            <a:pPr marL="228600" lvl="1"/>
            <a:endParaRPr lang="en-US" sz="1900" dirty="0" smtClean="0"/>
          </a:p>
          <a:p>
            <a:pPr marL="228600" lvl="1"/>
            <a:endParaRPr lang="en-US" sz="1900" dirty="0"/>
          </a:p>
          <a:p>
            <a:pPr marL="228600" lvl="1"/>
            <a:endParaRPr lang="en-US" sz="1900" dirty="0" smtClean="0"/>
          </a:p>
          <a:p>
            <a:pPr marL="228600" lvl="1"/>
            <a:r>
              <a:rPr lang="en-US" sz="1400" dirty="0" smtClean="0">
                <a:solidFill>
                  <a:srgbClr val="FF0000"/>
                </a:solidFill>
              </a:rPr>
              <a:t>Basic Sample(Basic.html)...</a:t>
            </a:r>
            <a:endParaRPr lang="en-US" sz="1400" dirty="0">
              <a:solidFill>
                <a:srgbClr val="FF0000"/>
              </a:solidFill>
            </a:endParaRPr>
          </a:p>
          <a:p>
            <a:pPr marL="228600" lvl="1"/>
            <a:endParaRPr lang="en-US" sz="1900" dirty="0" smtClean="0"/>
          </a:p>
          <a:p>
            <a:pPr marL="685800" lvl="1" indent="-457200">
              <a:buFont typeface="+mj-lt"/>
              <a:buAutoNum type="arabicPeriod"/>
            </a:pP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09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JS Features/concepts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685800" lvl="2"/>
            <a:r>
              <a:rPr lang="en-US" sz="1400" dirty="0" smtClean="0"/>
              <a:t>Angular JS Structure(for complex app)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9" y="1828800"/>
            <a:ext cx="4797306" cy="413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779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JS </a:t>
            </a:r>
            <a:r>
              <a:rPr lang="en-US" sz="3200" dirty="0" smtClean="0"/>
              <a:t>Features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Directives</a:t>
            </a:r>
            <a:r>
              <a:rPr lang="en-US" sz="2000" dirty="0"/>
              <a:t>, Modules, Controllers, Services, Views </a:t>
            </a:r>
            <a:r>
              <a:rPr lang="en-US" sz="2000" dirty="0" err="1" smtClean="0"/>
              <a:t>etc</a:t>
            </a:r>
            <a:endParaRPr lang="en-US" sz="2000" dirty="0" smtClean="0"/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Directives (few are…)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Calibri"/>
                <a:ea typeface="Calibri"/>
                <a:cs typeface="Times New Roman"/>
              </a:rPr>
              <a:t>Note- You </a:t>
            </a:r>
            <a:r>
              <a:rPr lang="en-US" sz="1200" dirty="0">
                <a:latin typeface="Calibri"/>
                <a:ea typeface="Calibri"/>
                <a:cs typeface="Times New Roman"/>
              </a:rPr>
              <a:t>can use</a:t>
            </a:r>
            <a:r>
              <a:rPr lang="en-US" sz="1200" b="1" dirty="0">
                <a:latin typeface="Calibri"/>
                <a:ea typeface="Calibri"/>
                <a:cs typeface="Times New Roman"/>
              </a:rPr>
              <a:t> data-ng-, </a:t>
            </a:r>
            <a:r>
              <a:rPr lang="en-US" sz="1200" dirty="0">
                <a:latin typeface="Calibri"/>
                <a:ea typeface="Calibri"/>
                <a:cs typeface="Times New Roman"/>
              </a:rPr>
              <a:t>instead of </a:t>
            </a:r>
            <a:r>
              <a:rPr lang="en-US" sz="1200" b="1" dirty="0">
                <a:latin typeface="Calibri"/>
                <a:ea typeface="Calibri"/>
                <a:cs typeface="Times New Roman"/>
              </a:rPr>
              <a:t>ng-,</a:t>
            </a:r>
            <a:r>
              <a:rPr lang="en-US" sz="1200" dirty="0">
                <a:latin typeface="Calibri"/>
                <a:ea typeface="Calibri"/>
                <a:cs typeface="Times New Roman"/>
              </a:rPr>
              <a:t> if you want to make your page HTML valid</a:t>
            </a:r>
            <a:r>
              <a:rPr lang="en-US" sz="1200" dirty="0" smtClean="0">
                <a:latin typeface="Calibri"/>
                <a:ea typeface="Calibri"/>
                <a:cs typeface="Times New Roman"/>
              </a:rPr>
              <a:t>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alibri"/>
              <a:ea typeface="Calibri"/>
              <a:cs typeface="Times New Roman"/>
            </a:endParaRPr>
          </a:p>
          <a:p>
            <a:pPr marL="1028700" lvl="2" indent="-342900">
              <a:buFont typeface="Arial" panose="020B0604020202020204" pitchFamily="34" charset="0"/>
              <a:buChar char="•"/>
            </a:pPr>
            <a:endParaRPr lang="en-US" sz="1800" dirty="0" smtClean="0"/>
          </a:p>
          <a:p>
            <a:pPr marL="1143000" lvl="3"/>
            <a:endParaRPr lang="en-US" sz="1600" dirty="0" smtClean="0"/>
          </a:p>
          <a:p>
            <a:pPr marL="1143000" lvl="3"/>
            <a:endParaRPr lang="en-US" sz="1600" dirty="0"/>
          </a:p>
          <a:p>
            <a:pPr marL="1143000" lvl="3"/>
            <a:endParaRPr lang="en-US" sz="1600" dirty="0" smtClean="0"/>
          </a:p>
          <a:p>
            <a:pPr marL="1143000" lvl="3"/>
            <a:endParaRPr lang="en-US" sz="1600" dirty="0"/>
          </a:p>
          <a:p>
            <a:pPr marL="1143000" lvl="3"/>
            <a:endParaRPr lang="en-US" sz="1600" dirty="0" smtClean="0"/>
          </a:p>
          <a:p>
            <a:pPr marL="1143000" lvl="3"/>
            <a:endParaRPr lang="en-US" sz="1600" dirty="0"/>
          </a:p>
          <a:p>
            <a:pPr marL="1143000" lvl="3"/>
            <a:endParaRPr lang="en-US" sz="1600" dirty="0" smtClean="0"/>
          </a:p>
          <a:p>
            <a:pPr marL="1143000" lvl="3"/>
            <a:endParaRPr lang="en-US" sz="1600" dirty="0"/>
          </a:p>
          <a:p>
            <a:pPr marL="1143000" lvl="3"/>
            <a:endParaRPr lang="en-US" sz="1600" dirty="0" smtClean="0"/>
          </a:p>
          <a:p>
            <a:pPr marL="1143000" lvl="3"/>
            <a:endParaRPr lang="en-US" sz="1600" dirty="0"/>
          </a:p>
          <a:p>
            <a:pPr marL="1143000" lvl="3"/>
            <a:endParaRPr lang="en-US" sz="1600" dirty="0" smtClean="0"/>
          </a:p>
          <a:p>
            <a:pPr marL="1143000" lvl="3"/>
            <a:endParaRPr lang="en-US" sz="1200" dirty="0" smtClean="0">
              <a:solidFill>
                <a:srgbClr val="FF0000"/>
              </a:solidFill>
            </a:endParaRPr>
          </a:p>
          <a:p>
            <a:pPr marL="1143000" lvl="3"/>
            <a:r>
              <a:rPr lang="en-US" sz="1200" dirty="0" smtClean="0">
                <a:solidFill>
                  <a:srgbClr val="FF0000"/>
                </a:solidFill>
              </a:rPr>
              <a:t>Sample (Directives.html…)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068058"/>
              </p:ext>
            </p:extLst>
          </p:nvPr>
        </p:nvGraphicFramePr>
        <p:xfrm>
          <a:off x="1552208" y="2417601"/>
          <a:ext cx="6738800" cy="3797642"/>
        </p:xfrm>
        <a:graphic>
          <a:graphicData uri="http://schemas.openxmlformats.org/drawingml/2006/table">
            <a:tbl>
              <a:tblPr firstRow="1" firstCol="1" bandRow="1"/>
              <a:tblGrid>
                <a:gridCol w="3302688"/>
                <a:gridCol w="3436112"/>
              </a:tblGrid>
              <a:tr h="424132"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ng-app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Declares the root element of an AngularJS app.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ng-show &amp; </a:t>
                      </a:r>
                      <a:r>
                        <a:rPr lang="en-US" sz="105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ng-hide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Conditionally show or hide an element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32"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ng-bind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binds the innerHTML of the &lt;p&gt; element to the application variable name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dirty="0" smtClean="0">
                          <a:solidFill>
                            <a:srgbClr val="252525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ng-switch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Conditionally instantiate one template from a set of choices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32"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ng-model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Similar to ng-bind, but establishes a two-way data binding between the view and the scope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ng-view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base directive responsible for handling routes 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32"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</a:t>
                      </a:r>
                      <a:r>
                        <a:rPr lang="en-US" sz="1050" b="1" kern="1200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init</a:t>
                      </a:r>
                      <a:endParaRPr lang="en-US" sz="1050" b="1" kern="120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Arial"/>
                        <a:ea typeface="Calibri"/>
                        <a:cs typeface="Times New Roman"/>
                      </a:endParaRPr>
                    </a:p>
                    <a:p>
                      <a:pPr marL="0" marR="0" algn="l" defTabSz="914400" rtl="0" eaLnBrk="1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initializes AngularJS application variables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kern="1200" dirty="0" smtClean="0">
                          <a:solidFill>
                            <a:srgbClr val="252525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ng-aria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module for accessibility support of common ARIA attributes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32"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dirty="0" smtClean="0">
                          <a:solidFill>
                            <a:srgbClr val="252525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ng-class</a:t>
                      </a:r>
                    </a:p>
                    <a:p>
                      <a:pPr marL="0" marR="0" algn="l" defTabSz="914400" rtl="0" eaLnBrk="1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Lets class attributes be dynamically loaded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ng-include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 other HTML file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842"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ng-controller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a JavaScript controller class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dirty="0">
                          <a:solidFill>
                            <a:srgbClr val="252525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en-US" sz="1050" b="1" kern="1200" dirty="0" smtClean="0">
                          <a:solidFill>
                            <a:srgbClr val="252525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ng-if </a:t>
                      </a:r>
                      <a:r>
                        <a:rPr lang="en-US" sz="11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Basic if statement directive that allow to show the following element if the conditions are true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132"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ng-repeat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Instantiate an element once per item from a collection.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050" b="1" dirty="0">
                          <a:solidFill>
                            <a:srgbClr val="252525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en-US" sz="105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ng-click</a:t>
                      </a:r>
                    </a:p>
                    <a:p>
                      <a:pPr marL="0" marR="0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120"/>
                        </a:spcAft>
                      </a:pPr>
                      <a:r>
                        <a:rPr lang="en-US" sz="11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 button click 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75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JS </a:t>
            </a:r>
            <a:r>
              <a:rPr lang="en-US" sz="3200" dirty="0" smtClean="0"/>
              <a:t>Features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Controller</a:t>
            </a:r>
            <a:endParaRPr lang="en-US" sz="1600" dirty="0"/>
          </a:p>
          <a:p>
            <a:pPr marL="1485900" lvl="3" indent="-342900">
              <a:buFont typeface="Arial" panose="020B0604020202020204" pitchFamily="34" charset="0"/>
              <a:buChar char="•"/>
            </a:pPr>
            <a:r>
              <a:rPr lang="en-US" sz="1400" dirty="0"/>
              <a:t>Controller is a javascript function. The job of the controller is to build a model of the view to display</a:t>
            </a:r>
            <a:r>
              <a:rPr lang="en-US" sz="1400" dirty="0" smtClean="0"/>
              <a:t>.</a:t>
            </a:r>
          </a:p>
          <a:p>
            <a:pPr marL="1485900" lvl="3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AngularJS </a:t>
            </a:r>
            <a:r>
              <a:rPr lang="en-US" sz="1400" dirty="0"/>
              <a:t>controllers are regular JavaScript Objects</a:t>
            </a:r>
            <a:r>
              <a:rPr lang="en-US" sz="1400" dirty="0" smtClean="0"/>
              <a:t>. </a:t>
            </a:r>
            <a:r>
              <a:rPr lang="en-US" sz="1400" dirty="0"/>
              <a:t>$scope is the application </a:t>
            </a:r>
            <a:r>
              <a:rPr lang="en-US" sz="1400" dirty="0" smtClean="0"/>
              <a:t>object(the </a:t>
            </a:r>
            <a:r>
              <a:rPr lang="en-US" sz="1400" dirty="0"/>
              <a:t>owner of application variables and functions</a:t>
            </a:r>
            <a:r>
              <a:rPr lang="en-US" sz="1400" dirty="0" smtClean="0"/>
              <a:t>).</a:t>
            </a:r>
          </a:p>
          <a:p>
            <a:pPr marL="1485900" lvl="3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b="1" dirty="0"/>
              <a:t>ng-controller</a:t>
            </a:r>
            <a:r>
              <a:rPr lang="en-US" sz="1400" dirty="0"/>
              <a:t> directive defines the application controller</a:t>
            </a:r>
            <a:r>
              <a:rPr lang="en-US" sz="1400" dirty="0" smtClean="0"/>
              <a:t>.</a:t>
            </a:r>
          </a:p>
          <a:p>
            <a:pPr marL="1485900" lvl="3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External controller</a:t>
            </a:r>
            <a:endParaRPr lang="en-US" sz="1400" dirty="0"/>
          </a:p>
          <a:p>
            <a:pPr marL="685800" lvl="2"/>
            <a:r>
              <a:rPr lang="en-US" sz="1400" dirty="0" smtClean="0"/>
              <a:t>Example</a:t>
            </a:r>
            <a:r>
              <a:rPr lang="en-US" sz="1400" dirty="0"/>
              <a:t>:</a:t>
            </a:r>
          </a:p>
          <a:p>
            <a:pPr marL="685800" lvl="2"/>
            <a:r>
              <a:rPr lang="en-US" sz="1400" dirty="0">
                <a:solidFill>
                  <a:srgbClr val="FF0000"/>
                </a:solidFill>
              </a:rPr>
              <a:t>var </a:t>
            </a:r>
            <a:r>
              <a:rPr lang="en-US" sz="1400" dirty="0" smtClean="0">
                <a:solidFill>
                  <a:srgbClr val="FF0000"/>
                </a:solidFill>
              </a:rPr>
              <a:t>myController=function($scope){</a:t>
            </a:r>
          </a:p>
          <a:p>
            <a:pPr marL="685800" lvl="2"/>
            <a:r>
              <a:rPr lang="en-US" sz="1400" dirty="0" smtClean="0">
                <a:solidFill>
                  <a:srgbClr val="FF0000"/>
                </a:solidFill>
              </a:rPr>
              <a:t>		$scope.message=“Angular JS Tutorial”;</a:t>
            </a:r>
            <a:endParaRPr lang="en-US" sz="1400" dirty="0">
              <a:solidFill>
                <a:srgbClr val="FF0000"/>
              </a:solidFill>
            </a:endParaRPr>
          </a:p>
          <a:p>
            <a:pPr marL="685800" lvl="2"/>
            <a:r>
              <a:rPr lang="en-US" sz="1400" dirty="0" smtClean="0">
                <a:solidFill>
                  <a:srgbClr val="FF0000"/>
                </a:solidFill>
              </a:rPr>
              <a:t>}</a:t>
            </a:r>
          </a:p>
          <a:p>
            <a:pPr marL="685800" lvl="2"/>
            <a:endParaRPr lang="en-US" sz="1100" dirty="0" smtClean="0">
              <a:solidFill>
                <a:srgbClr val="FF0000"/>
              </a:solidFill>
            </a:endParaRPr>
          </a:p>
          <a:p>
            <a:pPr marL="685800" lvl="2"/>
            <a:r>
              <a:rPr lang="en-US" sz="1100" dirty="0" smtClean="0">
                <a:solidFill>
                  <a:srgbClr val="FF0000"/>
                </a:solidFill>
              </a:rPr>
              <a:t>Sample </a:t>
            </a:r>
            <a:r>
              <a:rPr lang="en-US" sz="1100" dirty="0">
                <a:solidFill>
                  <a:srgbClr val="FF0000"/>
                </a:solidFill>
              </a:rPr>
              <a:t>(First.html</a:t>
            </a:r>
            <a:r>
              <a:rPr lang="en-US" sz="1100" dirty="0" smtClean="0">
                <a:solidFill>
                  <a:srgbClr val="FF0000"/>
                </a:solidFill>
              </a:rPr>
              <a:t>)...</a:t>
            </a:r>
            <a:endParaRPr lang="en-US" sz="1400" dirty="0" smtClean="0">
              <a:solidFill>
                <a:srgbClr val="FF0000"/>
              </a:solidFill>
            </a:endParaRPr>
          </a:p>
          <a:p>
            <a:pPr marL="971550" lvl="2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00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Angular JS Features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Module</a:t>
            </a:r>
            <a:endParaRPr lang="en-US" sz="2000" dirty="0"/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A module is a container of different parts of your application i.e. controllers, services, directives, filters etc.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It’s like Main() function in other applications</a:t>
            </a:r>
            <a:r>
              <a:rPr lang="en-US" sz="1400" dirty="0" smtClean="0"/>
              <a:t>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The module is a container for the application controllers</a:t>
            </a:r>
            <a:r>
              <a:rPr lang="en-US" sz="1400" dirty="0" smtClean="0"/>
              <a:t>. Controller always belongs to a Module.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Ng-app=‘’’ creates angular app but makes all content/controllers global, so we need to assign module to scope application content locally. Global variables can be accessed and modified easily by external entities so need a module.</a:t>
            </a:r>
          </a:p>
          <a:p>
            <a:pPr marL="685800" lvl="2"/>
            <a:endParaRPr lang="en-US" sz="1400" dirty="0" smtClean="0"/>
          </a:p>
          <a:p>
            <a:pPr marL="685800" lvl="2"/>
            <a:r>
              <a:rPr lang="en-US" sz="1400" dirty="0" smtClean="0"/>
              <a:t>Syntax:</a:t>
            </a:r>
          </a:p>
          <a:p>
            <a:pPr marL="685800" lvl="2"/>
            <a:r>
              <a:rPr lang="en-US" sz="1400" dirty="0" smtClean="0"/>
              <a:t> for setting new module:</a:t>
            </a:r>
            <a:endParaRPr lang="en-US" sz="1400" dirty="0"/>
          </a:p>
          <a:p>
            <a:pPr marL="685800" lvl="2"/>
            <a:r>
              <a:rPr lang="en-US" sz="1400" dirty="0" err="1">
                <a:solidFill>
                  <a:srgbClr val="FF0000"/>
                </a:solidFill>
                <a:latin typeface="Bodoni MT" panose="02070603080606020203" pitchFamily="18" charset="0"/>
              </a:rPr>
              <a:t>var</a:t>
            </a:r>
            <a:r>
              <a:rPr lang="en-US" sz="1400" dirty="0">
                <a:solidFill>
                  <a:srgbClr val="FF0000"/>
                </a:solidFill>
                <a:latin typeface="Bodoni MT" panose="02070603080606020203" pitchFamily="18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Bodoni MT" panose="02070603080606020203" pitchFamily="18" charset="0"/>
              </a:rPr>
              <a:t>myApp</a:t>
            </a:r>
            <a:r>
              <a:rPr lang="en-US" sz="1400" dirty="0">
                <a:solidFill>
                  <a:srgbClr val="FF0000"/>
                </a:solidFill>
                <a:latin typeface="Bodoni MT" panose="02070603080606020203" pitchFamily="18" charset="0"/>
              </a:rPr>
              <a:t>= </a:t>
            </a:r>
            <a:r>
              <a:rPr lang="en-US" sz="1400" dirty="0" err="1">
                <a:solidFill>
                  <a:srgbClr val="FF0000"/>
                </a:solidFill>
                <a:latin typeface="Bodoni MT" panose="02070603080606020203" pitchFamily="18" charset="0"/>
              </a:rPr>
              <a:t>angular.module</a:t>
            </a:r>
            <a:r>
              <a:rPr lang="en-US" sz="1400" dirty="0">
                <a:solidFill>
                  <a:srgbClr val="FF0000"/>
                </a:solidFill>
                <a:latin typeface="Bodoni MT" panose="02070603080606020203" pitchFamily="18" charset="0"/>
              </a:rPr>
              <a:t>(“</a:t>
            </a:r>
            <a:r>
              <a:rPr lang="en-US" sz="1400" dirty="0" err="1">
                <a:solidFill>
                  <a:srgbClr val="FF0000"/>
                </a:solidFill>
                <a:latin typeface="Bodoni MT" panose="02070603080606020203" pitchFamily="18" charset="0"/>
              </a:rPr>
              <a:t>myModule</a:t>
            </a:r>
            <a:r>
              <a:rPr lang="en-US" sz="1400" dirty="0">
                <a:solidFill>
                  <a:srgbClr val="FF0000"/>
                </a:solidFill>
                <a:latin typeface="Bodoni MT" panose="02070603080606020203" pitchFamily="18" charset="0"/>
              </a:rPr>
              <a:t>”,[]);</a:t>
            </a:r>
          </a:p>
          <a:p>
            <a:pPr marL="685800" lvl="2"/>
            <a:r>
              <a:rPr lang="en-US" sz="1400" dirty="0"/>
              <a:t>For using existing </a:t>
            </a:r>
            <a:r>
              <a:rPr lang="en-US" sz="1400" dirty="0" smtClean="0"/>
              <a:t>module:</a:t>
            </a:r>
            <a:endParaRPr lang="en-US" sz="1400" dirty="0"/>
          </a:p>
          <a:p>
            <a:pPr marL="685800" lvl="2"/>
            <a:r>
              <a:rPr lang="en-US" sz="1400" dirty="0" err="1">
                <a:solidFill>
                  <a:srgbClr val="FF0000"/>
                </a:solidFill>
                <a:latin typeface="Bodoni MT" panose="02070603080606020203" pitchFamily="18" charset="0"/>
              </a:rPr>
              <a:t>angular.module</a:t>
            </a:r>
            <a:r>
              <a:rPr lang="en-US" sz="1400" dirty="0">
                <a:solidFill>
                  <a:srgbClr val="FF0000"/>
                </a:solidFill>
                <a:latin typeface="Bodoni MT" panose="02070603080606020203" pitchFamily="18" charset="0"/>
              </a:rPr>
              <a:t>('</a:t>
            </a:r>
            <a:r>
              <a:rPr lang="en-US" sz="1400" dirty="0" err="1">
                <a:solidFill>
                  <a:srgbClr val="FF0000"/>
                </a:solidFill>
                <a:latin typeface="Bodoni MT" panose="02070603080606020203" pitchFamily="18" charset="0"/>
              </a:rPr>
              <a:t>MyModule</a:t>
            </a:r>
            <a:r>
              <a:rPr lang="en-US" sz="1400" dirty="0">
                <a:solidFill>
                  <a:srgbClr val="FF0000"/>
                </a:solidFill>
                <a:latin typeface="Bodoni MT" panose="02070603080606020203" pitchFamily="18" charset="0"/>
              </a:rPr>
              <a:t>').controller('</a:t>
            </a:r>
            <a:r>
              <a:rPr lang="en-US" sz="1400" dirty="0" err="1">
                <a:solidFill>
                  <a:srgbClr val="FF0000"/>
                </a:solidFill>
                <a:latin typeface="Bodoni MT" panose="02070603080606020203" pitchFamily="18" charset="0"/>
              </a:rPr>
              <a:t>namesCtrl</a:t>
            </a:r>
            <a:r>
              <a:rPr lang="en-US" sz="1400" dirty="0">
                <a:solidFill>
                  <a:srgbClr val="FF0000"/>
                </a:solidFill>
                <a:latin typeface="Bodoni MT" panose="02070603080606020203" pitchFamily="18" charset="0"/>
              </a:rPr>
              <a:t>', function ($scope) {</a:t>
            </a:r>
          </a:p>
          <a:p>
            <a:pPr marL="685800" lvl="2"/>
            <a:r>
              <a:rPr lang="en-US" sz="1400" dirty="0" smtClean="0">
                <a:solidFill>
                  <a:srgbClr val="FF0000"/>
                </a:solidFill>
                <a:latin typeface="Bodoni MT" panose="02070603080606020203" pitchFamily="18" charset="0"/>
              </a:rPr>
              <a:t>};</a:t>
            </a:r>
          </a:p>
          <a:p>
            <a:pPr marL="685800" lvl="2"/>
            <a:endParaRPr lang="en-US" sz="1400" dirty="0">
              <a:solidFill>
                <a:srgbClr val="FF0000"/>
              </a:solidFill>
              <a:latin typeface="Bodoni MT" panose="02070603080606020203" pitchFamily="18" charset="0"/>
            </a:endParaRPr>
          </a:p>
          <a:p>
            <a:pPr marL="685800" lvl="2"/>
            <a:r>
              <a:rPr lang="en-US" sz="1100" dirty="0">
                <a:solidFill>
                  <a:srgbClr val="FF0000"/>
                </a:solidFill>
              </a:rPr>
              <a:t>Sample (First.html)...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87B666-782D-45DF-B949-48496984778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350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JS </a:t>
            </a:r>
            <a:r>
              <a:rPr lang="en-US" sz="3200" dirty="0" smtClean="0"/>
              <a:t>Features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Filters 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Allows to format data for presentation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400" dirty="0"/>
              <a:t>Filters can be added to expressions by using the pipe character |, followed by a filter</a:t>
            </a:r>
            <a:r>
              <a:rPr lang="en-US" sz="1400" dirty="0" smtClean="0"/>
              <a:t>.</a:t>
            </a:r>
            <a:endParaRPr lang="en-US" dirty="0"/>
          </a:p>
          <a:p>
            <a:pPr marL="1028700" lvl="2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228600" lvl="1"/>
            <a:r>
              <a:rPr lang="en-US" sz="1100" dirty="0" smtClean="0">
                <a:solidFill>
                  <a:srgbClr val="FF0000"/>
                </a:solidFill>
              </a:rPr>
              <a:t>Sample(Filters.html)...</a:t>
            </a:r>
            <a:endParaRPr lang="en-US" sz="11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filter</a:t>
            </a:r>
            <a:r>
              <a:rPr lang="en-US" sz="1400" dirty="0"/>
              <a:t> Filter - The filter filter selects a subset of an array.  It can only be used on arrays, and it returns an array containing only the matching </a:t>
            </a:r>
            <a:r>
              <a:rPr lang="en-US" sz="1400" dirty="0" smtClean="0"/>
              <a:t>items. (</a:t>
            </a:r>
            <a:r>
              <a:rPr lang="en-US" sz="1100" dirty="0" smtClean="0">
                <a:solidFill>
                  <a:srgbClr val="FF0000"/>
                </a:solidFill>
              </a:rPr>
              <a:t>AdvFilter.html</a:t>
            </a:r>
            <a:r>
              <a:rPr lang="en-US" sz="1400" dirty="0" smtClean="0"/>
              <a:t>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Custom Filter - You can make your own filters by registering a new filter factory function with your </a:t>
            </a:r>
            <a:r>
              <a:rPr lang="en-US" sz="1400" dirty="0" smtClean="0"/>
              <a:t>module.(</a:t>
            </a:r>
            <a:r>
              <a:rPr lang="en-US" sz="1100" dirty="0">
                <a:solidFill>
                  <a:srgbClr val="FF0000"/>
                </a:solidFill>
              </a:rPr>
              <a:t>CustomFilter.html</a:t>
            </a:r>
            <a:r>
              <a:rPr lang="en-US" sz="1400" dirty="0" smtClean="0"/>
              <a:t>)</a:t>
            </a:r>
            <a:endParaRPr lang="en-US" sz="14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485900" lvl="3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971550" lvl="2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315" y="2401661"/>
            <a:ext cx="5116286" cy="2718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095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JS </a:t>
            </a:r>
            <a:r>
              <a:rPr lang="en-US" sz="3200" dirty="0" smtClean="0"/>
              <a:t>Features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Services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built in components/functions  to perform a specific job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Around 30 services which we can use or we can develop our own custom service.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228600" lvl="1"/>
            <a:endParaRPr lang="en-US" sz="1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FF0000"/>
              </a:solidFill>
            </a:endParaRPr>
          </a:p>
          <a:p>
            <a:pPr marL="228600" lvl="1"/>
            <a:endParaRPr lang="en-US" sz="1400" dirty="0" smtClean="0">
              <a:solidFill>
                <a:srgbClr val="FF0000"/>
              </a:solidFill>
            </a:endParaRPr>
          </a:p>
          <a:p>
            <a:pPr marL="228600" lvl="1"/>
            <a:endParaRPr lang="en-US" sz="1400" dirty="0" smtClean="0">
              <a:solidFill>
                <a:srgbClr val="FF0000"/>
              </a:solidFill>
            </a:endParaRPr>
          </a:p>
          <a:p>
            <a:pPr marL="228600" lvl="1"/>
            <a:endParaRPr lang="en-US" sz="1400" dirty="0">
              <a:solidFill>
                <a:srgbClr val="FF0000"/>
              </a:solidFill>
            </a:endParaRPr>
          </a:p>
          <a:p>
            <a:pPr marL="228600" lvl="1"/>
            <a:r>
              <a:rPr lang="en-US" sz="1400" dirty="0" smtClean="0">
                <a:solidFill>
                  <a:srgbClr val="FF0000"/>
                </a:solidFill>
              </a:rPr>
              <a:t>Sample (Service.html)...</a:t>
            </a:r>
            <a:endParaRPr lang="en-US" sz="1900" dirty="0"/>
          </a:p>
          <a:p>
            <a:pPr marL="971550" lvl="2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0" y="2409825"/>
            <a:ext cx="4468812" cy="3046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872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Angular JS Features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477926" y="1721803"/>
            <a:ext cx="7437474" cy="3828392"/>
          </a:xfrm>
        </p:spPr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Factory</a:t>
            </a:r>
            <a:endParaRPr lang="en-US" sz="2000" dirty="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 factory is a simple function which allows you to add some logic before creating the object. It returns the created object</a:t>
            </a:r>
            <a:r>
              <a:rPr lang="en-US" sz="1400" dirty="0" smtClean="0"/>
              <a:t>.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It </a:t>
            </a:r>
            <a:r>
              <a:rPr lang="en-US" sz="1400" dirty="0"/>
              <a:t>is just a collection of functions like a class. Hence, it can be instantiated in different controllers when you are using it with constructor function</a:t>
            </a:r>
            <a:r>
              <a:rPr lang="en-US" sz="1400" dirty="0" smtClean="0"/>
              <a:t>.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Service scope is at application level and generally service used to perform specific tasks without need to always return any object. But in Factory method, need to return object.</a:t>
            </a:r>
            <a:endParaRPr lang="en-US" sz="1400" dirty="0"/>
          </a:p>
          <a:p>
            <a:pPr marL="228600" lvl="1"/>
            <a:endParaRPr lang="en-US" b="1" dirty="0" smtClean="0"/>
          </a:p>
          <a:p>
            <a:pPr marL="228600" lvl="1"/>
            <a:r>
              <a:rPr lang="en-US" b="1" dirty="0" err="1" smtClean="0"/>
              <a:t>app.factory</a:t>
            </a:r>
            <a:r>
              <a:rPr lang="en-US" b="1" dirty="0"/>
              <a:t>('</a:t>
            </a:r>
            <a:r>
              <a:rPr lang="en-US" b="1" dirty="0" err="1"/>
              <a:t>serviceName</a:t>
            </a:r>
            <a:r>
              <a:rPr lang="en-US" b="1" dirty="0"/>
              <a:t>',function(){ return </a:t>
            </a:r>
            <a:r>
              <a:rPr lang="en-US" b="1" dirty="0" err="1"/>
              <a:t>serviceObj</a:t>
            </a:r>
            <a:r>
              <a:rPr lang="en-US" b="1" dirty="0"/>
              <a:t>;})</a:t>
            </a:r>
          </a:p>
          <a:p>
            <a:pPr marL="228600" lvl="1"/>
            <a:endParaRPr lang="en-US" dirty="0" smtClean="0"/>
          </a:p>
          <a:p>
            <a:pPr marL="228600" lvl="1"/>
            <a:r>
              <a:rPr lang="en-US" dirty="0" err="1" smtClean="0"/>
              <a:t>app.factory</a:t>
            </a:r>
            <a:r>
              <a:rPr lang="en-US" dirty="0"/>
              <a:t>('</a:t>
            </a:r>
            <a:r>
              <a:rPr lang="en-US" dirty="0" err="1"/>
              <a:t>MyFactory</a:t>
            </a:r>
            <a:r>
              <a:rPr lang="en-US" dirty="0"/>
              <a:t>', function () </a:t>
            </a:r>
            <a:r>
              <a:rPr lang="en-US" dirty="0" smtClean="0"/>
              <a:t>{ </a:t>
            </a:r>
            <a:endParaRPr lang="en-US" dirty="0"/>
          </a:p>
          <a:p>
            <a:pPr marL="228600" lvl="1"/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serviceObj</a:t>
            </a:r>
            <a:r>
              <a:rPr lang="en-US" dirty="0"/>
              <a:t> = {};</a:t>
            </a:r>
          </a:p>
          <a:p>
            <a:pPr marL="228600" lvl="1"/>
            <a:r>
              <a:rPr lang="en-US" dirty="0"/>
              <a:t> serviceObj.function1 = function () {</a:t>
            </a:r>
          </a:p>
          <a:p>
            <a:pPr marL="228600" lvl="1"/>
            <a:r>
              <a:rPr lang="en-US" dirty="0"/>
              <a:t> //TO DO:</a:t>
            </a:r>
          </a:p>
          <a:p>
            <a:pPr marL="228600" lvl="1"/>
            <a:r>
              <a:rPr lang="en-US" dirty="0"/>
              <a:t> </a:t>
            </a:r>
            <a:r>
              <a:rPr lang="en-US" dirty="0" smtClean="0"/>
              <a:t>}; </a:t>
            </a:r>
            <a:endParaRPr lang="en-US" dirty="0"/>
          </a:p>
          <a:p>
            <a:pPr marL="228600" lvl="1"/>
            <a:r>
              <a:rPr lang="en-US" dirty="0"/>
              <a:t> serviceObj.function2 = function () {</a:t>
            </a:r>
          </a:p>
          <a:p>
            <a:pPr marL="228600" lvl="1"/>
            <a:r>
              <a:rPr lang="en-US" dirty="0"/>
              <a:t> //TO DO:</a:t>
            </a:r>
          </a:p>
          <a:p>
            <a:pPr marL="228600" lvl="1"/>
            <a:r>
              <a:rPr lang="en-US" dirty="0"/>
              <a:t> </a:t>
            </a:r>
            <a:r>
              <a:rPr lang="en-US" dirty="0" smtClean="0"/>
              <a:t>}; </a:t>
            </a:r>
            <a:endParaRPr lang="en-US" dirty="0"/>
          </a:p>
          <a:p>
            <a:pPr marL="228600" lvl="1"/>
            <a:r>
              <a:rPr lang="en-US" dirty="0"/>
              <a:t> return </a:t>
            </a:r>
            <a:r>
              <a:rPr lang="en-US" dirty="0" err="1"/>
              <a:t>serviceObj</a:t>
            </a:r>
            <a:r>
              <a:rPr lang="en-US" dirty="0"/>
              <a:t>;</a:t>
            </a:r>
          </a:p>
          <a:p>
            <a:pPr marL="228600" lvl="1"/>
            <a:r>
              <a:rPr lang="en-US" dirty="0"/>
              <a:t>});</a:t>
            </a:r>
          </a:p>
          <a:p>
            <a:pPr marL="228600" lvl="1"/>
            <a:r>
              <a:rPr lang="en-US" dirty="0"/>
              <a:t> </a:t>
            </a:r>
          </a:p>
          <a:p>
            <a:pPr marL="228600" lvl="1"/>
            <a:r>
              <a:rPr lang="en-US" dirty="0" smtClean="0"/>
              <a:t>			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87B666-782D-45DF-B949-48496984778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962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JS </a:t>
            </a:r>
            <a:r>
              <a:rPr lang="en-US" sz="3200" dirty="0" smtClean="0"/>
              <a:t>Features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Data Binding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r>
              <a:rPr lang="en-US" sz="1400" dirty="0" smtClean="0">
                <a:solidFill>
                  <a:srgbClr val="FF0000"/>
                </a:solidFill>
              </a:rPr>
              <a:t>Sample(DataBinding.html)...</a:t>
            </a:r>
            <a:endParaRPr lang="en-US" sz="1400" dirty="0">
              <a:solidFill>
                <a:srgbClr val="FF0000"/>
              </a:solidFill>
            </a:endParaRPr>
          </a:p>
          <a:p>
            <a:pPr marL="1143000" lvl="3"/>
            <a:endParaRPr lang="en-US" sz="1900" dirty="0"/>
          </a:p>
          <a:p>
            <a:pPr marL="971550" lvl="2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2071688"/>
            <a:ext cx="3781425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956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JS </a:t>
            </a:r>
            <a:r>
              <a:rPr lang="en-US" sz="3200" dirty="0" smtClean="0"/>
              <a:t>Features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Routing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Prerequisite – get angular-route.js and add reference in application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Configure rules into </a:t>
            </a:r>
            <a:r>
              <a:rPr lang="en-US" sz="1600" dirty="0" smtClean="0">
                <a:solidFill>
                  <a:srgbClr val="FF0000"/>
                </a:solidFill>
              </a:rPr>
              <a:t>$routeProvider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Setup a layout </a:t>
            </a:r>
            <a:r>
              <a:rPr lang="en-US" sz="1600" dirty="0" smtClean="0"/>
              <a:t>view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Use </a:t>
            </a:r>
            <a:r>
              <a:rPr lang="en-US" sz="1600" dirty="0" smtClean="0">
                <a:solidFill>
                  <a:srgbClr val="FF0000"/>
                </a:solidFill>
              </a:rPr>
              <a:t>ng-view</a:t>
            </a:r>
            <a:r>
              <a:rPr lang="en-US" sz="1600" dirty="0" smtClean="0"/>
              <a:t> to define routing template section</a:t>
            </a:r>
            <a:endParaRPr lang="en-US" sz="1600" dirty="0"/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228600" lvl="1"/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228600" lvl="1"/>
            <a:r>
              <a:rPr lang="en-US" sz="2000" dirty="0" smtClean="0">
                <a:solidFill>
                  <a:srgbClr val="FF0000"/>
                </a:solidFill>
              </a:rPr>
              <a:t>                                                                                      </a:t>
            </a:r>
            <a:r>
              <a:rPr lang="en-US" sz="2000" dirty="0" smtClean="0"/>
              <a:t>Index.html/Layout</a:t>
            </a:r>
            <a:endParaRPr lang="en-US" sz="2000" dirty="0"/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228600" lvl="1"/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1400" dirty="0" smtClean="0">
              <a:solidFill>
                <a:srgbClr val="FF0000"/>
              </a:solidFill>
            </a:endParaRPr>
          </a:p>
          <a:p>
            <a:pPr marL="228600" lvl="1"/>
            <a:r>
              <a:rPr lang="en-US" sz="1400" dirty="0" smtClean="0">
                <a:solidFill>
                  <a:srgbClr val="FF0000"/>
                </a:solidFill>
              </a:rPr>
              <a:t>Sample(</a:t>
            </a:r>
            <a:r>
              <a:rPr lang="en-US" sz="1400" dirty="0" err="1" smtClean="0">
                <a:solidFill>
                  <a:srgbClr val="FF0000"/>
                </a:solidFill>
              </a:rPr>
              <a:t>Routedemo</a:t>
            </a:r>
            <a:r>
              <a:rPr lang="en-US" sz="1400" dirty="0" smtClean="0">
                <a:solidFill>
                  <a:srgbClr val="FF0000"/>
                </a:solidFill>
              </a:rPr>
              <a:t>\Index.html)…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1143000" lvl="3"/>
            <a:endParaRPr lang="en-US" sz="1900" dirty="0"/>
          </a:p>
          <a:p>
            <a:pPr marL="971550" lvl="2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28875" y="3190875"/>
            <a:ext cx="4191000" cy="2009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28950" y="3200400"/>
            <a:ext cx="230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57525" y="4733925"/>
            <a:ext cx="230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Footer</a:t>
            </a:r>
            <a:endParaRPr lang="en-US" dirty="0"/>
          </a:p>
        </p:txBody>
      </p:sp>
      <p:sp>
        <p:nvSpPr>
          <p:cNvPr id="8" name="Flowchart: Multidocument 7"/>
          <p:cNvSpPr/>
          <p:nvPr/>
        </p:nvSpPr>
        <p:spPr>
          <a:xfrm>
            <a:off x="2895600" y="3509962"/>
            <a:ext cx="2247900" cy="1223963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Hello.html</a:t>
            </a:r>
          </a:p>
          <a:p>
            <a:pPr algn="ctr"/>
            <a:r>
              <a:rPr lang="en-US" dirty="0" smtClean="0"/>
              <a:t>Api.html</a:t>
            </a:r>
          </a:p>
          <a:p>
            <a:pPr algn="ctr"/>
            <a:r>
              <a:rPr lang="en-US" dirty="0" smtClean="0"/>
              <a:t>Ngrepeat.html</a:t>
            </a:r>
          </a:p>
        </p:txBody>
      </p:sp>
    </p:spTree>
    <p:extLst>
      <p:ext uri="{BB962C8B-B14F-4D97-AF65-F5344CB8AC3E}">
        <p14:creationId xmlns:p14="http://schemas.microsoft.com/office/powerpoint/2010/main" val="402353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Angular JS Features/concepts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14849" y="1475397"/>
            <a:ext cx="7649029" cy="4857831"/>
          </a:xfrm>
        </p:spPr>
        <p:txBody>
          <a:bodyPr/>
          <a:lstStyle/>
          <a:p>
            <a:pPr marL="228600" lvl="1"/>
            <a:r>
              <a:rPr lang="en-US" sz="2000" dirty="0" smtClean="0"/>
              <a:t>Angular </a:t>
            </a:r>
            <a:r>
              <a:rPr lang="en-US" sz="2000" dirty="0"/>
              <a:t>Router (install package </a:t>
            </a:r>
            <a:r>
              <a:rPr lang="en-US" sz="2000" b="1" dirty="0"/>
              <a:t>angular-</a:t>
            </a:r>
            <a:r>
              <a:rPr lang="en-US" sz="2000" b="1" dirty="0" err="1"/>
              <a:t>ui</a:t>
            </a:r>
            <a:r>
              <a:rPr lang="en-US" sz="2000" b="1" dirty="0"/>
              <a:t>-router</a:t>
            </a:r>
            <a:r>
              <a:rPr lang="en-US" sz="2000" dirty="0"/>
              <a:t>)</a:t>
            </a:r>
          </a:p>
          <a:p>
            <a:pPr marL="228600" lvl="1"/>
            <a:endParaRPr lang="en-US" sz="2000" dirty="0">
              <a:solidFill>
                <a:srgbClr val="FF0000"/>
              </a:solidFill>
            </a:endParaRPr>
          </a:p>
          <a:p>
            <a:pPr marL="228600" lvl="1"/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1143000" lvl="3"/>
            <a:endParaRPr lang="en-US" sz="1900" dirty="0"/>
          </a:p>
          <a:p>
            <a:pPr marL="971550" lvl="2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97533C-3DCD-4B48-BB0F-7696BB7BB1D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790" y="1910687"/>
            <a:ext cx="5544829" cy="4735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187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 bwMode="auto">
          <a:xfrm>
            <a:off x="1657350" y="1116013"/>
            <a:ext cx="7258050" cy="566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600" dirty="0" smtClean="0">
                <a:latin typeface="+mj-lt"/>
              </a:rPr>
              <a:t>Any Questions?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8F91C6-2816-4F96-AF57-A22A0682044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2898" y="3172739"/>
            <a:ext cx="593660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400" dirty="0">
                <a:latin typeface="+mn-lt"/>
              </a:rPr>
              <a:t>         </a:t>
            </a:r>
            <a:r>
              <a:rPr lang="en-US" sz="2400" dirty="0" smtClean="0">
                <a:latin typeface="+mn-lt"/>
              </a:rPr>
              <a:t>Have </a:t>
            </a:r>
            <a:r>
              <a:rPr lang="en-US" sz="2400" dirty="0">
                <a:latin typeface="+mn-lt"/>
              </a:rPr>
              <a:t>a question now?</a:t>
            </a:r>
          </a:p>
          <a:p>
            <a:pPr eaLnBrk="1" hangingPunct="1">
              <a:defRPr/>
            </a:pPr>
            <a:r>
              <a:rPr lang="en-US" sz="2400" dirty="0">
                <a:latin typeface="+mn-lt"/>
              </a:rPr>
              <a:t>            </a:t>
            </a:r>
            <a:r>
              <a:rPr lang="en-US" sz="2400" dirty="0" smtClean="0">
                <a:latin typeface="+mn-lt"/>
              </a:rPr>
              <a:t>  </a:t>
            </a:r>
            <a:r>
              <a:rPr lang="en-US" sz="2400" dirty="0" smtClean="0">
                <a:latin typeface="+mn-lt"/>
                <a:sym typeface="Wingdings"/>
              </a:rPr>
              <a:t></a:t>
            </a:r>
            <a:r>
              <a:rPr lang="en-US" dirty="0" smtClean="0">
                <a:latin typeface="+mn-lt"/>
              </a:rPr>
              <a:t> J</a:t>
            </a:r>
            <a:r>
              <a:rPr lang="en-US" sz="2000" dirty="0" smtClean="0">
                <a:latin typeface="+mn-lt"/>
              </a:rPr>
              <a:t>ust </a:t>
            </a:r>
            <a:r>
              <a:rPr lang="en-US" sz="2000" dirty="0">
                <a:latin typeface="+mn-lt"/>
              </a:rPr>
              <a:t>ask!</a:t>
            </a:r>
          </a:p>
          <a:p>
            <a:pPr eaLnBrk="1" hangingPunct="1">
              <a:defRPr/>
            </a:pPr>
            <a:endParaRPr lang="en-US" dirty="0">
              <a:latin typeface="+mn-lt"/>
            </a:endParaRPr>
          </a:p>
          <a:p>
            <a:pPr eaLnBrk="1" hangingPunct="1">
              <a:defRPr/>
            </a:pPr>
            <a:endParaRPr lang="en-US" dirty="0">
              <a:latin typeface="+mn-lt"/>
            </a:endParaRPr>
          </a:p>
          <a:p>
            <a:pPr eaLnBrk="1" hangingPunct="1">
              <a:defRPr/>
            </a:pPr>
            <a:r>
              <a:rPr lang="en-US" dirty="0">
                <a:latin typeface="+mn-lt"/>
              </a:rPr>
              <a:t>          </a:t>
            </a:r>
            <a:r>
              <a:rPr lang="en-US" sz="2400" dirty="0" smtClean="0">
                <a:latin typeface="+mn-lt"/>
              </a:rPr>
              <a:t>Think </a:t>
            </a:r>
            <a:r>
              <a:rPr lang="en-US" sz="2400" dirty="0">
                <a:latin typeface="+mn-lt"/>
              </a:rPr>
              <a:t>of a question later?</a:t>
            </a:r>
          </a:p>
          <a:p>
            <a:pPr eaLnBrk="1" hangingPunct="1">
              <a:defRPr/>
            </a:pPr>
            <a:r>
              <a:rPr lang="en-US" sz="2000" dirty="0">
                <a:latin typeface="+mn-lt"/>
              </a:rPr>
              <a:t>                        </a:t>
            </a:r>
            <a:r>
              <a:rPr lang="en-US" sz="2000" dirty="0" smtClean="0">
                <a:latin typeface="+mn-lt"/>
              </a:rPr>
              <a:t>shitalkumard@Cybage.com</a:t>
            </a:r>
            <a:endParaRPr lang="en-US" sz="2000" dirty="0">
              <a:latin typeface="+mn-lt"/>
            </a:endParaRPr>
          </a:p>
          <a:p>
            <a:pPr eaLnBrk="1" hangingPunct="1">
              <a:defRPr/>
            </a:pPr>
            <a:r>
              <a:rPr lang="en-US" sz="2000" dirty="0">
                <a:latin typeface="+mn-lt"/>
                <a:sym typeface="Wingdings"/>
              </a:rPr>
              <a:t>                 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smtClean="0">
                <a:latin typeface="+mn-lt"/>
              </a:rPr>
              <a:t> 8403</a:t>
            </a:r>
            <a:endParaRPr lang="en-US" sz="2000" dirty="0">
              <a:latin typeface="+mn-lt"/>
            </a:endParaRPr>
          </a:p>
          <a:p>
            <a:pPr eaLnBrk="1" hangingPunct="1">
              <a:defRPr/>
            </a:pPr>
            <a:endParaRPr lang="en-US" sz="2400" dirty="0">
              <a:latin typeface="+mn-lt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1657350" y="3298838"/>
            <a:ext cx="435980" cy="326635"/>
          </a:xfrm>
          <a:prstGeom prst="wedgeEllipseCallout">
            <a:avLst>
              <a:gd name="adj1" fmla="val -32500"/>
              <a:gd name="adj2" fmla="val 9235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1657350" y="4622775"/>
            <a:ext cx="435980" cy="342981"/>
          </a:xfrm>
          <a:prstGeom prst="cloudCallout">
            <a:avLst>
              <a:gd name="adj1" fmla="val -38567"/>
              <a:gd name="adj2" fmla="val 1089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 bwMode="auto">
          <a:xfrm>
            <a:off x="2556847" y="4965756"/>
            <a:ext cx="274638" cy="184150"/>
            <a:chOff x="8672460" y="-1818199"/>
            <a:chExt cx="1811337" cy="1203325"/>
          </a:xfrm>
        </p:grpSpPr>
        <p:sp>
          <p:nvSpPr>
            <p:cNvPr id="9" name="Freeform 11"/>
            <p:cNvSpPr>
              <a:spLocks/>
            </p:cNvSpPr>
            <p:nvPr/>
          </p:nvSpPr>
          <p:spPr bwMode="black">
            <a:xfrm>
              <a:off x="8850456" y="-1704094"/>
              <a:ext cx="1591461" cy="809132"/>
            </a:xfrm>
            <a:custGeom>
              <a:avLst/>
              <a:gdLst>
                <a:gd name="T0" fmla="*/ 363 w 422"/>
                <a:gd name="T1" fmla="*/ 1 h 213"/>
                <a:gd name="T2" fmla="*/ 346 w 422"/>
                <a:gd name="T3" fmla="*/ 0 h 213"/>
                <a:gd name="T4" fmla="*/ 346 w 422"/>
                <a:gd name="T5" fmla="*/ 0 h 213"/>
                <a:gd name="T6" fmla="*/ 346 w 422"/>
                <a:gd name="T7" fmla="*/ 0 h 213"/>
                <a:gd name="T8" fmla="*/ 346 w 422"/>
                <a:gd name="T9" fmla="*/ 0 h 213"/>
                <a:gd name="T10" fmla="*/ 185 w 422"/>
                <a:gd name="T11" fmla="*/ 98 h 213"/>
                <a:gd name="T12" fmla="*/ 164 w 422"/>
                <a:gd name="T13" fmla="*/ 105 h 213"/>
                <a:gd name="T14" fmla="*/ 141 w 422"/>
                <a:gd name="T15" fmla="*/ 96 h 213"/>
                <a:gd name="T16" fmla="*/ 14 w 422"/>
                <a:gd name="T17" fmla="*/ 2 h 213"/>
                <a:gd name="T18" fmla="*/ 14 w 422"/>
                <a:gd name="T19" fmla="*/ 2 h 213"/>
                <a:gd name="T20" fmla="*/ 0 w 422"/>
                <a:gd name="T21" fmla="*/ 1 h 213"/>
                <a:gd name="T22" fmla="*/ 1 w 422"/>
                <a:gd name="T23" fmla="*/ 100 h 213"/>
                <a:gd name="T24" fmla="*/ 40 w 422"/>
                <a:gd name="T25" fmla="*/ 98 h 213"/>
                <a:gd name="T26" fmla="*/ 181 w 422"/>
                <a:gd name="T27" fmla="*/ 149 h 213"/>
                <a:gd name="T28" fmla="*/ 335 w 422"/>
                <a:gd name="T29" fmla="*/ 211 h 213"/>
                <a:gd name="T30" fmla="*/ 362 w 422"/>
                <a:gd name="T31" fmla="*/ 213 h 213"/>
                <a:gd name="T32" fmla="*/ 362 w 422"/>
                <a:gd name="T33" fmla="*/ 169 h 213"/>
                <a:gd name="T34" fmla="*/ 421 w 422"/>
                <a:gd name="T35" fmla="*/ 114 h 213"/>
                <a:gd name="T36" fmla="*/ 420 w 422"/>
                <a:gd name="T37" fmla="*/ 111 h 213"/>
                <a:gd name="T38" fmla="*/ 418 w 422"/>
                <a:gd name="T39" fmla="*/ 115 h 213"/>
                <a:gd name="T40" fmla="*/ 362 w 422"/>
                <a:gd name="T41" fmla="*/ 155 h 213"/>
                <a:gd name="T42" fmla="*/ 363 w 422"/>
                <a:gd name="T43" fmla="*/ 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22" h="213">
                  <a:moveTo>
                    <a:pt x="363" y="1"/>
                  </a:moveTo>
                  <a:cubicBezTo>
                    <a:pt x="363" y="1"/>
                    <a:pt x="346" y="0"/>
                    <a:pt x="346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299" y="29"/>
                    <a:pt x="203" y="87"/>
                    <a:pt x="185" y="98"/>
                  </a:cubicBezTo>
                  <a:cubicBezTo>
                    <a:pt x="182" y="100"/>
                    <a:pt x="173" y="105"/>
                    <a:pt x="164" y="105"/>
                  </a:cubicBezTo>
                  <a:cubicBezTo>
                    <a:pt x="154" y="105"/>
                    <a:pt x="147" y="101"/>
                    <a:pt x="141" y="96"/>
                  </a:cubicBezTo>
                  <a:cubicBezTo>
                    <a:pt x="126" y="86"/>
                    <a:pt x="59" y="35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0" y="1"/>
                    <a:pt x="0" y="1"/>
                  </a:cubicBezTo>
                  <a:cubicBezTo>
                    <a:pt x="0" y="28"/>
                    <a:pt x="0" y="65"/>
                    <a:pt x="1" y="100"/>
                  </a:cubicBezTo>
                  <a:cubicBezTo>
                    <a:pt x="12" y="98"/>
                    <a:pt x="26" y="97"/>
                    <a:pt x="40" y="98"/>
                  </a:cubicBezTo>
                  <a:cubicBezTo>
                    <a:pt x="91" y="101"/>
                    <a:pt x="139" y="125"/>
                    <a:pt x="181" y="149"/>
                  </a:cubicBezTo>
                  <a:cubicBezTo>
                    <a:pt x="222" y="172"/>
                    <a:pt x="273" y="200"/>
                    <a:pt x="335" y="211"/>
                  </a:cubicBezTo>
                  <a:cubicBezTo>
                    <a:pt x="344" y="212"/>
                    <a:pt x="353" y="213"/>
                    <a:pt x="362" y="213"/>
                  </a:cubicBezTo>
                  <a:cubicBezTo>
                    <a:pt x="362" y="169"/>
                    <a:pt x="362" y="169"/>
                    <a:pt x="362" y="169"/>
                  </a:cubicBezTo>
                  <a:cubicBezTo>
                    <a:pt x="412" y="159"/>
                    <a:pt x="419" y="127"/>
                    <a:pt x="421" y="114"/>
                  </a:cubicBezTo>
                  <a:cubicBezTo>
                    <a:pt x="421" y="113"/>
                    <a:pt x="422" y="111"/>
                    <a:pt x="420" y="111"/>
                  </a:cubicBezTo>
                  <a:cubicBezTo>
                    <a:pt x="418" y="111"/>
                    <a:pt x="418" y="114"/>
                    <a:pt x="418" y="115"/>
                  </a:cubicBezTo>
                  <a:cubicBezTo>
                    <a:pt x="416" y="122"/>
                    <a:pt x="411" y="148"/>
                    <a:pt x="362" y="155"/>
                  </a:cubicBezTo>
                  <a:lnTo>
                    <a:pt x="363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36" tIns="45718" rIns="91436" bIns="45718" anchor="ctr"/>
            <a:lstStyle/>
            <a:p>
              <a:pPr defTabSz="740740" eaLnBrk="1" hangingPunct="1">
                <a:defRPr/>
              </a:pPr>
              <a:endParaRPr lang="en-US" spc="-122">
                <a:solidFill>
                  <a:schemeClr val="tx1">
                    <a:lumMod val="50000"/>
                  </a:schemeClr>
                </a:solidFill>
                <a:latin typeface="Segoe Light" pitchFamily="34" charset="0"/>
              </a:endParaRPr>
            </a:p>
          </p:txBody>
        </p:sp>
        <p:sp>
          <p:nvSpPr>
            <p:cNvPr id="10" name="Freeform 12"/>
            <p:cNvSpPr>
              <a:spLocks noEditPoints="1"/>
            </p:cNvSpPr>
            <p:nvPr/>
          </p:nvSpPr>
          <p:spPr bwMode="black">
            <a:xfrm>
              <a:off x="8672460" y="-1154296"/>
              <a:ext cx="1811337" cy="539422"/>
            </a:xfrm>
            <a:custGeom>
              <a:avLst/>
              <a:gdLst>
                <a:gd name="T0" fmla="*/ 480 w 480"/>
                <a:gd name="T1" fmla="*/ 81 h 143"/>
                <a:gd name="T2" fmla="*/ 478 w 480"/>
                <a:gd name="T3" fmla="*/ 81 h 143"/>
                <a:gd name="T4" fmla="*/ 430 w 480"/>
                <a:gd name="T5" fmla="*/ 106 h 143"/>
                <a:gd name="T6" fmla="*/ 390 w 480"/>
                <a:gd name="T7" fmla="*/ 107 h 143"/>
                <a:gd name="T8" fmla="*/ 242 w 480"/>
                <a:gd name="T9" fmla="*/ 62 h 143"/>
                <a:gd name="T10" fmla="*/ 74 w 480"/>
                <a:gd name="T11" fmla="*/ 1 h 143"/>
                <a:gd name="T12" fmla="*/ 11 w 480"/>
                <a:gd name="T13" fmla="*/ 19 h 143"/>
                <a:gd name="T14" fmla="*/ 0 w 480"/>
                <a:gd name="T15" fmla="*/ 53 h 143"/>
                <a:gd name="T16" fmla="*/ 34 w 480"/>
                <a:gd name="T17" fmla="*/ 89 h 143"/>
                <a:gd name="T18" fmla="*/ 47 w 480"/>
                <a:gd name="T19" fmla="*/ 90 h 143"/>
                <a:gd name="T20" fmla="*/ 47 w 480"/>
                <a:gd name="T21" fmla="*/ 102 h 143"/>
                <a:gd name="T22" fmla="*/ 59 w 480"/>
                <a:gd name="T23" fmla="*/ 117 h 143"/>
                <a:gd name="T24" fmla="*/ 375 w 480"/>
                <a:gd name="T25" fmla="*/ 143 h 143"/>
                <a:gd name="T26" fmla="*/ 396 w 480"/>
                <a:gd name="T27" fmla="*/ 139 h 143"/>
                <a:gd name="T28" fmla="*/ 408 w 480"/>
                <a:gd name="T29" fmla="*/ 123 h 143"/>
                <a:gd name="T30" fmla="*/ 408 w 480"/>
                <a:gd name="T31" fmla="*/ 115 h 143"/>
                <a:gd name="T32" fmla="*/ 454 w 480"/>
                <a:gd name="T33" fmla="*/ 105 h 143"/>
                <a:gd name="T34" fmla="*/ 480 w 480"/>
                <a:gd name="T35" fmla="*/ 82 h 143"/>
                <a:gd name="T36" fmla="*/ 480 w 480"/>
                <a:gd name="T37" fmla="*/ 81 h 143"/>
                <a:gd name="T38" fmla="*/ 47 w 480"/>
                <a:gd name="T39" fmla="*/ 73 h 143"/>
                <a:gd name="T40" fmla="*/ 11 w 480"/>
                <a:gd name="T41" fmla="*/ 51 h 143"/>
                <a:gd name="T42" fmla="*/ 21 w 480"/>
                <a:gd name="T43" fmla="*/ 26 h 143"/>
                <a:gd name="T44" fmla="*/ 47 w 480"/>
                <a:gd name="T45" fmla="*/ 18 h 143"/>
                <a:gd name="T46" fmla="*/ 47 w 480"/>
                <a:gd name="T47" fmla="*/ 7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0" h="143">
                  <a:moveTo>
                    <a:pt x="480" y="81"/>
                  </a:moveTo>
                  <a:cubicBezTo>
                    <a:pt x="479" y="80"/>
                    <a:pt x="478" y="81"/>
                    <a:pt x="478" y="81"/>
                  </a:cubicBezTo>
                  <a:cubicBezTo>
                    <a:pt x="463" y="97"/>
                    <a:pt x="443" y="103"/>
                    <a:pt x="430" y="106"/>
                  </a:cubicBezTo>
                  <a:cubicBezTo>
                    <a:pt x="420" y="108"/>
                    <a:pt x="408" y="108"/>
                    <a:pt x="390" y="107"/>
                  </a:cubicBezTo>
                  <a:cubicBezTo>
                    <a:pt x="350" y="103"/>
                    <a:pt x="301" y="91"/>
                    <a:pt x="242" y="62"/>
                  </a:cubicBezTo>
                  <a:cubicBezTo>
                    <a:pt x="169" y="25"/>
                    <a:pt x="119" y="3"/>
                    <a:pt x="74" y="1"/>
                  </a:cubicBezTo>
                  <a:cubicBezTo>
                    <a:pt x="54" y="0"/>
                    <a:pt x="26" y="1"/>
                    <a:pt x="11" y="19"/>
                  </a:cubicBezTo>
                  <a:cubicBezTo>
                    <a:pt x="3" y="27"/>
                    <a:pt x="0" y="40"/>
                    <a:pt x="0" y="53"/>
                  </a:cubicBezTo>
                  <a:cubicBezTo>
                    <a:pt x="1" y="80"/>
                    <a:pt x="23" y="88"/>
                    <a:pt x="34" y="89"/>
                  </a:cubicBezTo>
                  <a:cubicBezTo>
                    <a:pt x="38" y="90"/>
                    <a:pt x="43" y="91"/>
                    <a:pt x="47" y="90"/>
                  </a:cubicBezTo>
                  <a:cubicBezTo>
                    <a:pt x="47" y="97"/>
                    <a:pt x="47" y="101"/>
                    <a:pt x="47" y="102"/>
                  </a:cubicBezTo>
                  <a:cubicBezTo>
                    <a:pt x="47" y="112"/>
                    <a:pt x="50" y="116"/>
                    <a:pt x="59" y="117"/>
                  </a:cubicBezTo>
                  <a:cubicBezTo>
                    <a:pt x="68" y="117"/>
                    <a:pt x="371" y="143"/>
                    <a:pt x="375" y="143"/>
                  </a:cubicBezTo>
                  <a:cubicBezTo>
                    <a:pt x="380" y="143"/>
                    <a:pt x="391" y="142"/>
                    <a:pt x="396" y="139"/>
                  </a:cubicBezTo>
                  <a:cubicBezTo>
                    <a:pt x="401" y="136"/>
                    <a:pt x="408" y="133"/>
                    <a:pt x="408" y="123"/>
                  </a:cubicBezTo>
                  <a:cubicBezTo>
                    <a:pt x="408" y="115"/>
                    <a:pt x="408" y="115"/>
                    <a:pt x="408" y="115"/>
                  </a:cubicBezTo>
                  <a:cubicBezTo>
                    <a:pt x="425" y="115"/>
                    <a:pt x="441" y="111"/>
                    <a:pt x="454" y="105"/>
                  </a:cubicBezTo>
                  <a:cubicBezTo>
                    <a:pt x="464" y="100"/>
                    <a:pt x="473" y="92"/>
                    <a:pt x="480" y="82"/>
                  </a:cubicBezTo>
                  <a:cubicBezTo>
                    <a:pt x="480" y="82"/>
                    <a:pt x="480" y="81"/>
                    <a:pt x="480" y="81"/>
                  </a:cubicBezTo>
                  <a:close/>
                  <a:moveTo>
                    <a:pt x="47" y="73"/>
                  </a:moveTo>
                  <a:cubicBezTo>
                    <a:pt x="31" y="73"/>
                    <a:pt x="12" y="69"/>
                    <a:pt x="11" y="51"/>
                  </a:cubicBezTo>
                  <a:cubicBezTo>
                    <a:pt x="10" y="41"/>
                    <a:pt x="13" y="33"/>
                    <a:pt x="21" y="26"/>
                  </a:cubicBezTo>
                  <a:cubicBezTo>
                    <a:pt x="29" y="20"/>
                    <a:pt x="37" y="19"/>
                    <a:pt x="47" y="18"/>
                  </a:cubicBezTo>
                  <a:cubicBezTo>
                    <a:pt x="47" y="39"/>
                    <a:pt x="47" y="58"/>
                    <a:pt x="47" y="73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36" tIns="45718" rIns="91436" bIns="45718" anchor="ctr"/>
            <a:lstStyle/>
            <a:p>
              <a:pPr defTabSz="740740" eaLnBrk="1" hangingPunct="1">
                <a:defRPr/>
              </a:pPr>
              <a:endParaRPr lang="en-US" spc="-122">
                <a:solidFill>
                  <a:schemeClr val="tx1">
                    <a:lumMod val="50000"/>
                  </a:schemeClr>
                </a:solidFill>
                <a:latin typeface="Segoe Light" pitchFamily="34" charset="0"/>
              </a:endParaRPr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black">
            <a:xfrm>
              <a:off x="8850456" y="-1818199"/>
              <a:ext cx="1361118" cy="560169"/>
            </a:xfrm>
            <a:custGeom>
              <a:avLst/>
              <a:gdLst>
                <a:gd name="T0" fmla="*/ 137 w 363"/>
                <a:gd name="T1" fmla="*/ 138 h 148"/>
                <a:gd name="T2" fmla="*/ 163 w 363"/>
                <a:gd name="T3" fmla="*/ 148 h 148"/>
                <a:gd name="T4" fmla="*/ 189 w 363"/>
                <a:gd name="T5" fmla="*/ 140 h 148"/>
                <a:gd name="T6" fmla="*/ 363 w 363"/>
                <a:gd name="T7" fmla="*/ 32 h 148"/>
                <a:gd name="T8" fmla="*/ 363 w 363"/>
                <a:gd name="T9" fmla="*/ 19 h 148"/>
                <a:gd name="T10" fmla="*/ 348 w 363"/>
                <a:gd name="T11" fmla="*/ 3 h 148"/>
                <a:gd name="T12" fmla="*/ 335 w 363"/>
                <a:gd name="T13" fmla="*/ 0 h 148"/>
                <a:gd name="T14" fmla="*/ 330 w 363"/>
                <a:gd name="T15" fmla="*/ 0 h 148"/>
                <a:gd name="T16" fmla="*/ 13 w 363"/>
                <a:gd name="T17" fmla="*/ 14 h 148"/>
                <a:gd name="T18" fmla="*/ 0 w 363"/>
                <a:gd name="T19" fmla="*/ 27 h 148"/>
                <a:gd name="T20" fmla="*/ 0 w 363"/>
                <a:gd name="T21" fmla="*/ 38 h 148"/>
                <a:gd name="T22" fmla="*/ 137 w 363"/>
                <a:gd name="T23" fmla="*/ 13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3" h="148">
                  <a:moveTo>
                    <a:pt x="137" y="138"/>
                  </a:moveTo>
                  <a:cubicBezTo>
                    <a:pt x="146" y="145"/>
                    <a:pt x="154" y="148"/>
                    <a:pt x="163" y="148"/>
                  </a:cubicBezTo>
                  <a:cubicBezTo>
                    <a:pt x="172" y="148"/>
                    <a:pt x="181" y="145"/>
                    <a:pt x="189" y="140"/>
                  </a:cubicBezTo>
                  <a:cubicBezTo>
                    <a:pt x="202" y="132"/>
                    <a:pt x="312" y="64"/>
                    <a:pt x="363" y="32"/>
                  </a:cubicBezTo>
                  <a:cubicBezTo>
                    <a:pt x="363" y="19"/>
                    <a:pt x="363" y="19"/>
                    <a:pt x="363" y="19"/>
                  </a:cubicBezTo>
                  <a:cubicBezTo>
                    <a:pt x="363" y="9"/>
                    <a:pt x="355" y="5"/>
                    <a:pt x="348" y="3"/>
                  </a:cubicBezTo>
                  <a:cubicBezTo>
                    <a:pt x="344" y="1"/>
                    <a:pt x="339" y="1"/>
                    <a:pt x="335" y="0"/>
                  </a:cubicBezTo>
                  <a:cubicBezTo>
                    <a:pt x="334" y="0"/>
                    <a:pt x="332" y="0"/>
                    <a:pt x="330" y="0"/>
                  </a:cubicBezTo>
                  <a:cubicBezTo>
                    <a:pt x="328" y="0"/>
                    <a:pt x="22" y="14"/>
                    <a:pt x="13" y="14"/>
                  </a:cubicBezTo>
                  <a:cubicBezTo>
                    <a:pt x="4" y="14"/>
                    <a:pt x="0" y="18"/>
                    <a:pt x="0" y="27"/>
                  </a:cubicBezTo>
                  <a:cubicBezTo>
                    <a:pt x="0" y="28"/>
                    <a:pt x="0" y="30"/>
                    <a:pt x="0" y="38"/>
                  </a:cubicBezTo>
                  <a:cubicBezTo>
                    <a:pt x="40" y="66"/>
                    <a:pt x="126" y="130"/>
                    <a:pt x="137" y="138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36" tIns="45718" rIns="91436" bIns="45718" anchor="ctr"/>
            <a:lstStyle/>
            <a:p>
              <a:pPr defTabSz="740740" eaLnBrk="1" hangingPunct="1">
                <a:defRPr/>
              </a:pPr>
              <a:endParaRPr lang="en-US" spc="-122">
                <a:solidFill>
                  <a:schemeClr val="tx1">
                    <a:lumMod val="50000"/>
                  </a:schemeClr>
                </a:solidFill>
                <a:latin typeface="Segoe Ligh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94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600" dirty="0" smtClean="0">
                <a:latin typeface="+mj-lt"/>
              </a:rPr>
              <a:t>Thank you!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0" y="6392863"/>
            <a:ext cx="493713" cy="365125"/>
          </a:xfrm>
        </p:spPr>
        <p:txBody>
          <a:bodyPr/>
          <a:lstStyle/>
          <a:p>
            <a:pPr>
              <a:defRPr/>
            </a:pPr>
            <a:fld id="{C13D9A8D-9D85-456C-BEE1-677EEEE14F2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84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46927</TotalTime>
  <Words>820</Words>
  <Application>Microsoft Office PowerPoint</Application>
  <PresentationFormat>On-screen Show (4:3)</PresentationFormat>
  <Paragraphs>262</Paragraphs>
  <Slides>16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Angular JS with WebAPI</vt:lpstr>
      <vt:lpstr>Agenda</vt:lpstr>
      <vt:lpstr>Introduction to Angular JS</vt:lpstr>
      <vt:lpstr>Angular setup requirement</vt:lpstr>
      <vt:lpstr>Angular JS Features/concepts</vt:lpstr>
      <vt:lpstr>Angular JS Features</vt:lpstr>
      <vt:lpstr>Angular JS Features</vt:lpstr>
      <vt:lpstr>Angular JS Features</vt:lpstr>
      <vt:lpstr>Angular JS Features</vt:lpstr>
      <vt:lpstr>Angular JS Features</vt:lpstr>
      <vt:lpstr>Angular JS Features</vt:lpstr>
      <vt:lpstr>Angular JS Features</vt:lpstr>
      <vt:lpstr>Angular JS Features</vt:lpstr>
      <vt:lpstr>Angular JS Features/concepts</vt:lpstr>
      <vt:lpstr>Any Questions?</vt:lpstr>
      <vt:lpstr>Thank you!</vt:lpstr>
    </vt:vector>
  </TitlesOfParts>
  <Company>Cybage Software Pvt. 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Santaji Garwe</dc:creator>
  <cp:lastModifiedBy>Shitalkumar Dahiwal</cp:lastModifiedBy>
  <cp:revision>572</cp:revision>
  <dcterms:created xsi:type="dcterms:W3CDTF">2009-07-20T04:26:09Z</dcterms:created>
  <dcterms:modified xsi:type="dcterms:W3CDTF">2016-07-18T07:34:49Z</dcterms:modified>
</cp:coreProperties>
</file>